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seconds)</a:t>
            </a:r>
          </a:p>
          <a:p>
            <a:r>
              <a:t>Start with the promise, not the architecture:</a:t>
            </a:r>
          </a:p>
          <a:p>
            <a:r>
              <a:t>"Today I want to show you a different way to make video. Not a faster editor. An AI agent that can direct the production."</a:t>
            </a:r>
          </a:p>
          <a:p/>
          <a:p>
            <a:r>
              <a:t>Pause on the title. Then: "And I will show it working, not just describe it."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Ask for a show of hands: who has made a video for work in the last year?</a:t>
            </a:r>
          </a:p>
          <a:p>
            <a:r>
              <a:t>The hard part is rarely a single model call. The hard part is coordinating a creative workflow where each step changes the next one.</a:t>
            </a:r>
          </a:p>
          <a:p/>
          <a:p>
            <a:r>
              <a:t>Transition: "That is exactly the shape of problem agents are becoming good at."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Do not present this as "one magical model."</a:t>
            </a:r>
          </a:p>
          <a:p>
            <a:r>
              <a:t>Emphasize the convergence:</a:t>
            </a:r>
          </a:p>
          <a:p>
            <a:r>
              <a:t>1. Models produce useful raw material.</a:t>
            </a:r>
          </a:p>
          <a:p>
            <a:r>
              <a:t>2. Coding agents can orchestrate real software.</a:t>
            </a:r>
          </a:p>
          <a:p>
            <a:r>
              <a:t>3. Deterministic renderers turn plans into repeatable frames.</a:t>
            </a:r>
          </a:p>
          <a:p>
            <a:r>
              <a:t>4. Governance makes the workflow usable for enterprise scenarios.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Be precise about lineage:</a:t>
            </a:r>
          </a:p>
          <a:p>
            <a:r>
              <a:t>- Same author.</a:t>
            </a:r>
          </a:p>
          <a:p>
            <a:r>
              <a:t>- OpenMontage demonstrated community interest in agentic production.</a:t>
            </a:r>
          </a:p>
          <a:p>
            <a:r>
              <a:t>- Slate is an independent, proprietary, clean-room implementation.</a:t>
            </a:r>
          </a:p>
          <a:p>
            <a:r>
              <a:t>- Shared concepts were reimagined for Azure-native enterprise needs.</a:t>
            </a:r>
          </a:p>
          <a:p/>
          <a:p>
            <a:r>
              <a:t>Reference: https://github.com/calesthio/OpenMontage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This is the mental model for the rest of the talk.</a:t>
            </a:r>
          </a:p>
          <a:p>
            <a:r>
              <a:t>Slate externalizes production state to files and pauses at meaningful creative gates.</a:t>
            </a:r>
          </a:p>
          <a:p>
            <a:r>
              <a:t>The workflow is structured; the content remains creative.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(4 minutes)</a:t>
            </a:r>
          </a:p>
          <a:p>
            <a:r>
              <a:t>Walk down the stack quickly.</a:t>
            </a:r>
          </a:p>
          <a:p>
            <a:r>
              <a:t>Key distinction: generative models create some assets; local deterministic systems compose the final video.</a:t>
            </a:r>
          </a:p>
          <a:p>
            <a:r>
              <a:t>SCF is the version-controllable recipe connecting creative decisions to rendering.</a:t>
            </a:r>
          </a:p>
          <a:p>
            <a:r>
              <a:t>Independent review is a second agent, not the director grading its own homework.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(transition, 1 minute)</a:t>
            </a:r>
          </a:p>
          <a:p>
            <a:r>
              <a:t>State the demo contract before leaving PowerPoint.</a:t>
            </a:r>
          </a:p>
          <a:p>
            <a:r>
              <a:t>"I am going to use a deliberately short prompt. Watch where Slate acts autonomously, and where it asks me to make a judgment."</a:t>
            </a:r>
          </a:p>
          <a:p/>
          <a:p>
            <a:r>
              <a:t>Keep this slide ready as the return point if the live demo has latency.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backup / explanation (3 minutes)</a:t>
            </a:r>
          </a:p>
          <a:p>
            <a:r>
              <a:t>If live: switch to Soundstage and point out the stage rail, script, scene wall, narration timing, decision trail, and cost.</a:t>
            </a:r>
          </a:p>
          <a:p>
            <a:r>
              <a:t>If demo is delayed: use this screenshot and narrate the same flow.</a:t>
            </a:r>
          </a:p>
          <a:p/>
          <a:p>
            <a:r>
              <a:t>Core point: chat describes intent; Soundstage displays production truth derived from disk.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(3 minutes)</a:t>
            </a:r>
          </a:p>
          <a:p>
            <a:r>
              <a:t>Explain routing while assets generate.</a:t>
            </a:r>
          </a:p>
          <a:p>
            <a:r>
              <a:t>- Real product surfaces should be deterministic and reusable.</a:t>
            </a:r>
          </a:p>
          <a:p>
            <a:r>
              <a:t>- Explanatory visuals should be art-directed and composed from primitives.</a:t>
            </a:r>
          </a:p>
          <a:p>
            <a:r>
              <a:t>- Generative models are strongest for imagery and selected motion.</a:t>
            </a:r>
          </a:p>
          <a:p/>
          <a:p>
            <a:r>
              <a:t>This is one of the most important "where it needs guidance" lessons.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(2 minutes)</a:t>
            </a:r>
          </a:p>
          <a:p>
            <a:r>
              <a:t>Show the review report if available.</a:t>
            </a:r>
          </a:p>
          <a:p>
            <a:r>
              <a:t>Explain the two phases:</a:t>
            </a:r>
          </a:p>
          <a:p>
            <a:r>
              <a:t>1. Pre-compose validation catches missing assets and timing errors.</a:t>
            </a:r>
          </a:p>
          <a:p>
            <a:r>
              <a:t>2. Post-render review inspects the actual MP4.</a:t>
            </a:r>
          </a:p>
          <a:p/>
          <a:p>
            <a:r>
              <a:t>Be candid: automated review reduces obvious failures; it does not replace human editorial judgment.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(3 minutes)</a:t>
            </a:r>
          </a:p>
          <a:p>
            <a:r>
              <a:t>Pick two examples relevant to the audience rather than reading all six.</a:t>
            </a:r>
          </a:p>
          <a:p>
            <a:r>
              <a:t>Recommended examples:</a:t>
            </a:r>
          </a:p>
          <a:p>
            <a:r>
              <a:t>- Architecture explainer from a design doc.</a:t>
            </a:r>
          </a:p>
          <a:p>
            <a:r>
              <a:t>- Synthetic workflow demo without recording a real tenant.</a:t>
            </a:r>
          </a:p>
          <a:p>
            <a:r>
              <a:t>- Release recap generated from notes or a deck.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(4 minutes)</a:t>
            </a:r>
          </a:p>
          <a:p>
            <a:r>
              <a:t>This slide builds credibility. Do not rush it.</a:t>
            </a:r>
          </a:p>
          <a:p>
            <a:r>
              <a:t>Slate is strongest when there is a clear source, defined audience, repeatable format, and a human willing to make editorial calls.</a:t>
            </a:r>
          </a:p>
          <a:p>
            <a:r>
              <a:t>It is not a replacement for taste, accountability, or domain expertise.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(2 minutes)</a:t>
            </a:r>
          </a:p>
          <a:p>
            <a:r>
              <a:t>Keep prerequisites practical.</a:t>
            </a:r>
          </a:p>
          <a:p>
            <a:r>
              <a:t>The local stack handles composition and rendering.</a:t>
            </a:r>
          </a:p>
          <a:p>
            <a:r>
              <a:t>Azure services provide generated imagery, speech, transcription, and optional video.</a:t>
            </a:r>
          </a:p>
          <a:p>
            <a:r>
              <a:t>No Azure resource should be created or changed without an explicit plan and approval.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(1 minute)</a:t>
            </a:r>
          </a:p>
          <a:p>
            <a:r>
              <a:t>Invite people to explore the examples and begin with a small internal video.</a:t>
            </a:r>
          </a:p>
          <a:p>
            <a:r>
              <a:t>Current positioning: Slate is in early development and intended for internal testing/showcasing; external use requires appropriate legal and governance review.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(30 seconds)</a:t>
            </a:r>
          </a:p>
          <a:p>
            <a:r>
              <a:t>"The big idea is not that AI can generate a clip. It is that an agent can coordinate the full production while people retain creative and accountable control."</a:t>
            </a:r>
          </a:p>
          <a:p/>
          <a:p>
            <a:r>
              <a:t>Open Q&amp;A with: "What part of your current content workflow would you most want to turn into a repeatable production?"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66928"/>
            <a:ext cx="260604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806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FAE6C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ACA89F"/>
                </a:solidFill>
                <a:latin typeface="Aptos Display"/>
              </a:rPr>
              <a:t>FROM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6F3EC"/>
                </a:solidFill>
                <a:latin typeface="Aptos Display"/>
              </a:rPr>
              <a:t>TO PREMIERE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CA89F"/>
                </a:solidFill>
                <a:latin typeface="Aptos"/>
              </a:rPr>
              <a:t>Agentic video production with Slate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960120"/>
            <a:ext cx="2971800" cy="411480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FAE6C"/>
                </a:solidFill>
                <a:latin typeface="Consola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41732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3EC"/>
                </a:solidFill>
                <a:latin typeface="Consolas"/>
              </a:rPr>
              <a:t>Make a 60-second</a:t>
            </a:r>
            <a:br/>
            <a:r>
              <a:rPr sz="1800" b="1">
                <a:solidFill>
                  <a:srgbClr val="F6F3EC"/>
                </a:solidFill>
                <a:latin typeface="Consolas"/>
              </a:rPr>
              <a:t>launch video about</a:t>
            </a:r>
            <a:br/>
            <a:r>
              <a:rPr sz="1800" b="1">
                <a:solidFill>
                  <a:srgbClr val="F6F3EC"/>
                </a:solidFill>
                <a:latin typeface="Consolas"/>
              </a:rPr>
              <a:t>agentic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54680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16839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218688"/>
            <a:ext cx="1097280" cy="109728"/>
          </a:xfrm>
          <a:prstGeom prst="roundRect">
            <a:avLst>
              <a:gd name="adj" fmla="val 3500"/>
            </a:avLst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5480" y="3218688"/>
            <a:ext cx="868680" cy="109728"/>
          </a:xfrm>
          <a:prstGeom prst="roundRect">
            <a:avLst>
              <a:gd name="adj" fmla="val 3500"/>
            </a:avLst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3584448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59816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SCENES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3648456"/>
            <a:ext cx="1097280" cy="109728"/>
          </a:xfrm>
          <a:prstGeom prst="roundRect">
            <a:avLst>
              <a:gd name="adj" fmla="val 3500"/>
            </a:avLst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5480" y="3648456"/>
            <a:ext cx="868680" cy="109728"/>
          </a:xfrm>
          <a:prstGeom prst="roundRect">
            <a:avLst>
              <a:gd name="adj" fmla="val 3500"/>
            </a:avLst>
          </a:prstGeom>
          <a:solidFill>
            <a:srgbClr val="BB9A5D"/>
          </a:solidFill>
          <a:ln>
            <a:solidFill>
              <a:srgbClr val="BB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4014216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279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VOICE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078224"/>
            <a:ext cx="1097280" cy="109728"/>
          </a:xfrm>
          <a:prstGeom prst="roundRect">
            <a:avLst>
              <a:gd name="adj" fmla="val 3500"/>
            </a:avLst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55480" y="4078224"/>
            <a:ext cx="868680" cy="109728"/>
          </a:xfrm>
          <a:prstGeom prst="roundRect">
            <a:avLst>
              <a:gd name="adj" fmla="val 3500"/>
            </a:avLst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4443984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4577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4507992"/>
            <a:ext cx="1097280" cy="109728"/>
          </a:xfrm>
          <a:prstGeom prst="roundRect">
            <a:avLst>
              <a:gd name="adj" fmla="val 3500"/>
            </a:avLst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480" y="4507992"/>
            <a:ext cx="868680" cy="109728"/>
          </a:xfrm>
          <a:prstGeom prst="roundRect">
            <a:avLst>
              <a:gd name="adj" fmla="val 3500"/>
            </a:avLst>
          </a:prstGeom>
          <a:solidFill>
            <a:srgbClr val="96938B"/>
          </a:solidFill>
          <a:ln>
            <a:solidFill>
              <a:srgbClr val="96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080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CA89F"/>
                </a:solidFill>
                <a:latin typeface="Aptos"/>
              </a:rPr>
              <a:t>ISHAN BHATT  /  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Video is not one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It is a relay race across specialized skills, tools, and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5740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What is the point?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05740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205740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What should we see?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205740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47304" y="205740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2585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272491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How should it sound?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56616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56616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968" y="37673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How does it move?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6552" y="356616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16552" y="356616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17720" y="37673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Is it accurate and safe?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47304" y="3566160"/>
            <a:ext cx="3429000" cy="121615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3566160"/>
            <a:ext cx="41148" cy="121615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8472" y="37673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2" y="37673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3767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Deliver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4233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Can anyone reproduce it?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ACA89F"/>
                </a:solidFill>
                <a:latin typeface="Aptos"/>
              </a:rPr>
              <a:t>The bottleneck is not generation. </a:t>
            </a:r>
            <a:r>
              <a:rPr sz="1800" b="1">
                <a:solidFill>
                  <a:srgbClr val="F6F3EC"/>
                </a:solidFill>
                <a:latin typeface="Aptos"/>
              </a:rPr>
              <a:t>It is orchestration.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Four curves crossed.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Agentic video became practical when creation, orchestration, rendering, and governance matured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1901952"/>
            <a:ext cx="530352" cy="53035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9019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20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MULTIMODAL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91109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CA89F"/>
                </a:solidFill>
                <a:latin typeface="Aptos"/>
              </a:rPr>
              <a:t>Image, speech, transcription, and short video are callable tools.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2432304"/>
            <a:ext cx="0" cy="411480"/>
          </a:xfrm>
          <a:prstGeom prst="line">
            <a:avLst/>
          </a:prstGeom>
          <a:ln w="2540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6384" y="2862072"/>
            <a:ext cx="530352" cy="53035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86207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8803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CODING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87121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CA89F"/>
                </a:solidFill>
                <a:latin typeface="Aptos"/>
              </a:rPr>
              <a:t>Agents can read files, run tools, inspect results, and iterate.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" y="3392424"/>
            <a:ext cx="0" cy="411480"/>
          </a:xfrm>
          <a:prstGeom prst="line">
            <a:avLst/>
          </a:prstGeom>
          <a:ln w="2540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6384" y="3822191"/>
            <a:ext cx="530352" cy="53035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822191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4047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DETERMINISTIC RENDERING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31335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CA89F"/>
                </a:solidFill>
                <a:latin typeface="Aptos"/>
              </a:rPr>
              <a:t>HTML, GSAP, and headless capture make motion reproducible.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4352543"/>
            <a:ext cx="0" cy="411480"/>
          </a:xfrm>
          <a:prstGeom prst="line">
            <a:avLst/>
          </a:prstGeom>
          <a:ln w="2540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86384" y="4782312"/>
            <a:ext cx="530352" cy="53035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78231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006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ENTERPRISE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791456"/>
            <a:ext cx="6355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CA89F"/>
                </a:solidFill>
                <a:latin typeface="Aptos"/>
              </a:rPr>
              <a:t>Approval gates, cost limits, brand rules, and audit trails.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5367528"/>
            <a:ext cx="1234440" cy="438912"/>
          </a:xfrm>
          <a:prstGeom prst="roundRect">
            <a:avLst>
              <a:gd name="adj" fmla="val 3500"/>
            </a:avLst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536752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A0A0B"/>
                </a:solidFill>
                <a:latin typeface="Aptos"/>
              </a:rPr>
              <a:t>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Open-source spark. Enterprise reimagination.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Slate was inspired by the popularity and lessons of OpenMontage, created by the same author.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65960"/>
            <a:ext cx="4114800" cy="30632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304288"/>
            <a:ext cx="128016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180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8892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6F3EC"/>
                </a:solidFill>
                <a:latin typeface="Aptos Display"/>
              </a:rPr>
              <a:t>OpenMontage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Proved the appetite for turning a coding assistant into a production studio.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6048" y="3493008"/>
            <a:ext cx="1581912" cy="0"/>
          </a:xfrm>
          <a:prstGeom prst="line">
            <a:avLst/>
          </a:prstGeom>
          <a:ln w="38100">
            <a:solidFill>
              <a:srgbClr val="E2D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59552" y="3172968"/>
            <a:ext cx="640080" cy="64008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317296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FAE6C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965960"/>
            <a:ext cx="4617720" cy="30632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76872" y="2304288"/>
            <a:ext cx="1261872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318004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7889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6F3EC"/>
                </a:solidFill>
                <a:latin typeface="Aptos Display"/>
              </a:rPr>
              <a:t>Slate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40156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Reimagined the patterns for Azure, brand governance, auditability, and human approval.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3583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Clean-room implementation. No OpenMontage source code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Slate is an AI video director.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Not a single generator. Not a timeline editor. An agent coordinating a production.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Intent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82496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42032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Story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10128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69664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9664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Shots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7760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797296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296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Media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65392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424928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SCF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93024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052560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Quality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0656" y="2688336"/>
            <a:ext cx="521208" cy="0"/>
          </a:xfrm>
          <a:prstGeom prst="line">
            <a:avLst/>
          </a:prstGeom>
          <a:ln w="3175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680192" y="2304288"/>
            <a:ext cx="768096" cy="768096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0192" y="230428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327355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6F3EC"/>
                </a:solidFill>
                <a:latin typeface="Aptos"/>
              </a:rPr>
              <a:t>MP4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9296" y="36393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CA89F"/>
                </a:solidFill>
                <a:latin typeface="Aptos"/>
              </a:rPr>
              <a:t>Delivery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4645152"/>
            <a:ext cx="8503920" cy="8686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48840" y="491032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E2D3B2"/>
                </a:solidFill>
                <a:latin typeface="Aptos"/>
              </a:rPr>
              <a:t>Creative freedom </a:t>
            </a:r>
            <a:r>
              <a:rPr sz="1700" b="0">
                <a:solidFill>
                  <a:srgbClr val="F6F3EC"/>
                </a:solidFill>
                <a:latin typeface="Aptos"/>
              </a:rPr>
              <a:t>inside each stage.  </a:t>
            </a:r>
            <a:r>
              <a:rPr sz="1700" b="1">
                <a:solidFill>
                  <a:srgbClr val="CFAE6C"/>
                </a:solidFill>
                <a:latin typeface="Aptos"/>
              </a:rPr>
              <a:t>Human control </a:t>
            </a:r>
            <a:r>
              <a:rPr sz="1700" b="0">
                <a:solidFill>
                  <a:srgbClr val="F6F3EC"/>
                </a:solidFill>
                <a:latin typeface="Aptos"/>
              </a:rPr>
              <a:t>at every boundary.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UNDER THE 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Creative judgment on top. Deterministic machinery below.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847088"/>
            <a:ext cx="9692640" cy="6400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E2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61872" y="2011680"/>
            <a:ext cx="1874519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0253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DIRECTOR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29968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Intent, research, script, art direction,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6152" y="2651760"/>
            <a:ext cx="9272015" cy="6400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72184" y="2816352"/>
            <a:ext cx="1874519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72184" y="28300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SLATE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2834640"/>
            <a:ext cx="6300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Tools, capability registry, costs, trace, SCF compiler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6464" y="3456432"/>
            <a:ext cx="8851392" cy="6400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BB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82495" y="3621024"/>
            <a:ext cx="1874519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36347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CREATIVE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3639312"/>
            <a:ext cx="5879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Azure AI Foundry: image, speech, transcription, 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36776" y="4261104"/>
            <a:ext cx="8430767" cy="6400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92807" y="4425696"/>
            <a:ext cx="1874519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2807" y="443941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LOCAL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4443984"/>
            <a:ext cx="5458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HyperFrames + GSAP + headless Chrome + FFmpeg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47088" y="5065776"/>
            <a:ext cx="8010144" cy="6400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96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03120" y="5230368"/>
            <a:ext cx="1874519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524408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INDEPENDENT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48656"/>
            <a:ext cx="5038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Validation, frame/audio inspection,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2920"/>
            <a:ext cx="132588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1663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FAE6C"/>
                </a:solidFill>
                <a:latin typeface="Aptos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170432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6F3EC"/>
                </a:solidFill>
                <a:latin typeface="Aptos Display"/>
              </a:rPr>
              <a:t>LET'S MAKE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CA89F"/>
                </a:solidFill>
                <a:latin typeface="Aptos"/>
              </a:rPr>
              <a:t>A product launch video from one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6583680" cy="2176272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2D3B2"/>
                </a:solidFill>
                <a:latin typeface="Consolas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35808"/>
            <a:ext cx="5349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3EC"/>
                </a:solidFill>
                <a:latin typeface="Consolas"/>
              </a:rPr>
              <a:t>Create a 60-second launch video for a new</a:t>
            </a:r>
            <a:br/>
            <a:r>
              <a:rPr sz="1800" b="1">
                <a:solidFill>
                  <a:srgbClr val="F6F3EC"/>
                </a:solidFill>
                <a:latin typeface="Consolas"/>
              </a:rPr>
              <a:t>AI product. Audience: developers. Tone: bold,</a:t>
            </a:r>
            <a:br/>
            <a:r>
              <a:rPr sz="1800" b="1">
                <a:solidFill>
                  <a:srgbClr val="F6F3EC"/>
                </a:solidFill>
                <a:latin typeface="Consolas"/>
              </a:rPr>
              <a:t>credible, and cinematic. Show the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143000"/>
            <a:ext cx="3474720" cy="10972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143000"/>
            <a:ext cx="41148" cy="1097280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13441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WHAT WE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181051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Brief -&gt; script -&gt; storyboard -&gt; assets -&gt; MP4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560320"/>
            <a:ext cx="3474720" cy="10972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560320"/>
            <a:ext cx="41148" cy="1097280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0999" y="27614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WHAT WE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9" y="32278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Audience, claims, pacing, visual treatment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977639"/>
            <a:ext cx="3474720" cy="109728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3977639"/>
            <a:ext cx="41148" cy="1097280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999" y="417880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WHAT WE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999" y="4645151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Time, cost, quality, and where guidance enters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DEMO CHECKPOINT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The production becomes visible before it becomes expensive.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Soundstage turns files, decisions, timing, and approval gates into a living storyboard.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38528"/>
            <a:ext cx="7726679" cy="402336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ard-live.png"/>
          <p:cNvPicPr>
            <a:picLocks noChangeAspect="1"/>
          </p:cNvPicPr>
          <p:nvPr/>
        </p:nvPicPr>
        <p:blipFill>
          <a:blip r:embed="rId2"/>
          <a:srcRect t="17155" b="17155"/>
          <a:stretch>
            <a:fillRect/>
          </a:stretch>
        </p:blipFill>
        <p:spPr>
          <a:xfrm>
            <a:off x="749808" y="2029968"/>
            <a:ext cx="7543800" cy="3840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05088" y="1920240"/>
            <a:ext cx="2606040" cy="1060704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5088" y="1920240"/>
            <a:ext cx="41148" cy="1060704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2121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SEE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587752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Script, scenes, narration, and costs are on the wall.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3273552"/>
            <a:ext cx="2606040" cy="1060704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05088" y="3273552"/>
            <a:ext cx="41148" cy="1060704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34747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CATCH IT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941064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Pacing and sameness issues appear before render.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4626864"/>
            <a:ext cx="2606040" cy="1060704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05088" y="4626864"/>
            <a:ext cx="41148" cy="1060704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482803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APPROVE WITH 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5294376"/>
            <a:ext cx="20574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The agent waits at creative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DEMO CHECKPOINT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Generated does not mean guessed.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Slate routes each visual to the treatment that can represent it faithfully.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11680"/>
            <a:ext cx="3401568" cy="297180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" y="2267712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6F3EC"/>
                </a:solidFill>
                <a:latin typeface="Aptos"/>
              </a:rPr>
              <a:t>PRODUCT CHROME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VS Code, terminal,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Teams, Outlook,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Azure Portal</a:t>
            </a:r>
          </a:p>
        </p:txBody>
      </p:sp>
      <p:sp>
        <p:nvSpPr>
          <p:cNvPr id="17" name="Oval 16"/>
          <p:cNvSpPr/>
          <p:nvPr/>
        </p:nvSpPr>
        <p:spPr>
          <a:xfrm>
            <a:off x="3255264" y="3986784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5264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9704" y="2011680"/>
            <a:ext cx="3401568" cy="297180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45736" y="2267712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CRAFT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6F3EC"/>
                </a:solidFill>
                <a:latin typeface="Aptos"/>
              </a:rPr>
              <a:t>DESIGN VISUALS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Diagrams, charts,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kinetic type,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concept metaphors</a:t>
            </a:r>
          </a:p>
        </p:txBody>
      </p:sp>
      <p:sp>
        <p:nvSpPr>
          <p:cNvPr id="24" name="Oval 23"/>
          <p:cNvSpPr/>
          <p:nvPr/>
        </p:nvSpPr>
        <p:spPr>
          <a:xfrm>
            <a:off x="7031736" y="3986784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6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2011680"/>
            <a:ext cx="3401568" cy="297180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22207" y="2267712"/>
            <a:ext cx="9601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7" y="228142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FAE6C"/>
                </a:solidFill>
                <a:latin typeface="Aptos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278892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6F3EC"/>
                </a:solidFill>
                <a:latin typeface="Aptos"/>
              </a:rPr>
              <a:t>GENERATED 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345643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People, places,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illustration,</a:t>
            </a:r>
            <a:br/>
            <a:r>
              <a:rPr sz="1500" b="0">
                <a:solidFill>
                  <a:srgbClr val="ACA89F"/>
                </a:solidFill>
                <a:latin typeface="Aptos"/>
              </a:rPr>
              <a:t>cinematic motion</a:t>
            </a:r>
          </a:p>
        </p:txBody>
      </p:sp>
      <p:sp>
        <p:nvSpPr>
          <p:cNvPr id="31" name="Oval 30"/>
          <p:cNvSpPr/>
          <p:nvPr/>
        </p:nvSpPr>
        <p:spPr>
          <a:xfrm>
            <a:off x="10808207" y="3986784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8207" y="3986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22392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FAE6C"/>
                </a:solidFill>
                <a:latin typeface="Aptos"/>
              </a:rPr>
              <a:t>Rule of thumb: </a:t>
            </a:r>
            <a:r>
              <a:rPr sz="1600" b="0">
                <a:solidFill>
                  <a:srgbClr val="F6F3EC"/>
                </a:solidFill>
                <a:latin typeface="Aptos"/>
              </a:rPr>
              <a:t>never ask an image model to draw exact code, UI, charts, or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DEMO CHECKPOINT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The director does not grade its own film.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A second agent reviews the final render across creative and technical dimensions.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1965960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011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Brand compliance</a:t>
            </a:r>
          </a:p>
        </p:txBody>
      </p:sp>
      <p:sp>
        <p:nvSpPr>
          <p:cNvPr id="15" name="Oval 14"/>
          <p:cNvSpPr/>
          <p:nvPr/>
        </p:nvSpPr>
        <p:spPr>
          <a:xfrm>
            <a:off x="5916168" y="1965960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11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Caption accuracy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2807208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07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85292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Audio quality</a:t>
            </a:r>
          </a:p>
        </p:txBody>
      </p:sp>
      <p:sp>
        <p:nvSpPr>
          <p:cNvPr id="21" name="Oval 20"/>
          <p:cNvSpPr/>
          <p:nvPr/>
        </p:nvSpPr>
        <p:spPr>
          <a:xfrm>
            <a:off x="5916168" y="2807208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2807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52928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Visual consistency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3648456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694176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Pacing</a:t>
            </a:r>
          </a:p>
        </p:txBody>
      </p:sp>
      <p:sp>
        <p:nvSpPr>
          <p:cNvPr id="27" name="Oval 26"/>
          <p:cNvSpPr/>
          <p:nvPr/>
        </p:nvSpPr>
        <p:spPr>
          <a:xfrm>
            <a:off x="5916168" y="3648456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6168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694176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Content accuracy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489704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89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53542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Redundancy</a:t>
            </a:r>
          </a:p>
        </p:txBody>
      </p:sp>
      <p:sp>
        <p:nvSpPr>
          <p:cNvPr id="33" name="Oval 32"/>
          <p:cNvSpPr/>
          <p:nvPr/>
        </p:nvSpPr>
        <p:spPr>
          <a:xfrm>
            <a:off x="5916168" y="4489704"/>
            <a:ext cx="384048" cy="384048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44897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FAE6C"/>
                </a:solidFill>
                <a:latin typeface="Aptos"/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53542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Narration timing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5486400"/>
            <a:ext cx="10012680" cy="47548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605272"/>
            <a:ext cx="9646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CA89F"/>
                </a:solidFill>
                <a:latin typeface="Aptos"/>
              </a:rPr>
              <a:t>If any dimension fails, Slate fixes, re-renders, and re-reviews before delivery.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WHERE IT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The sweet spot: repeatable video with real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Especially when accuracy, customization, and turnaround matter more than handcrafted cinema.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965960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1965960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21671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Feature reveals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Release recaps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Roadmaps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965960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62272" y="1965960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21671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Architecture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API explainers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CLI demos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965960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965960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30768" y="2167128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21671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67128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ENABLEMENT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33472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Onboarding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Workflow training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Policy updates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3538728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" y="3538728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3739896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Org updates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Event recaps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Executive briefs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62272" y="3538728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62272" y="3538728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63440" y="3739896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9512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CUSTOMER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Personalized demos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Health summaries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QBR videos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538728"/>
            <a:ext cx="3456432" cy="1298448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538728"/>
            <a:ext cx="41148" cy="1298448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30768" y="3739896"/>
            <a:ext cx="420624" cy="420624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7398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AE6C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739896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Aptos"/>
              </a:rPr>
              <a:t>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06240"/>
            <a:ext cx="29077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CA89F"/>
                </a:solidFill>
                <a:latin typeface="Aptos"/>
              </a:rPr>
              <a:t>Incident reviews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Audit evidence</a:t>
            </a:r>
            <a:br/>
            <a:r>
              <a:rPr sz="1250" b="0">
                <a:solidFill>
                  <a:srgbClr val="ACA89F"/>
                </a:solidFill>
                <a:latin typeface="Aptos"/>
              </a:rPr>
              <a:t>Status narratives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HONEST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Where Slate shines. Where it still needs a director.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96938B"/>
                </a:solidFill>
                <a:latin typeface="Aptos Display"/>
              </a:rPr>
              <a:t>SHINES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901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FAE6C"/>
                </a:solidFill>
                <a:latin typeface="Aptos Display"/>
              </a:rPr>
              <a:t>NEEDS GUIDANCE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514600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14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1460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Turning structured source material into a coherent first cut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3300984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300984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Synthetic product and workflow demos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087368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0873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08736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Consistent brand, captions, and narration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873752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7375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Fast variants, localization, and repeatable updates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2514600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514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51460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Choosing the strongest story and what to leave out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3300984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3009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00984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Verifying factual claims and sensitive context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087368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873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8736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Judging taste, humor, emotion, and executive nuance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4873752"/>
            <a:ext cx="347472" cy="347472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873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FAE6C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87375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3EC"/>
                </a:solidFill>
                <a:latin typeface="Aptos"/>
              </a:rPr>
              <a:t>Handling hero creative that demands bespoke craft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53328" y="1993392"/>
            <a:ext cx="0" cy="3630168"/>
          </a:xfrm>
          <a:prstGeom prst="line">
            <a:avLst/>
          </a:prstGeom>
          <a:ln w="25400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GETTING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A production studio inside your coding environment.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CA89F"/>
                </a:solidFill>
                <a:latin typeface="Aptos"/>
              </a:rPr>
              <a:t>Local rendering plus optional Azure-backed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48840"/>
            <a:ext cx="2468880" cy="26060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423160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FAE6C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CA89F"/>
                </a:solidFill>
                <a:latin typeface="Aptos"/>
              </a:rPr>
              <a:t>Python 3.11+</a:t>
            </a:r>
            <a:br/>
            <a:r>
              <a:rPr sz="1500" b="1">
                <a:solidFill>
                  <a:srgbClr val="ACA89F"/>
                </a:solidFill>
                <a:latin typeface="Aptos"/>
              </a:rPr>
              <a:t>Node.js 24+</a:t>
            </a:r>
            <a:br/>
            <a:r>
              <a:rPr sz="1500" b="1">
                <a:solidFill>
                  <a:srgbClr val="ACA89F"/>
                </a:solidFill>
                <a:latin typeface="Aptos"/>
              </a:rPr>
              <a:t>FFmpeg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2148840"/>
            <a:ext cx="2468880" cy="26060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3904" y="2423160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FAE6C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CA89F"/>
                </a:solidFill>
                <a:latin typeface="Aptos"/>
              </a:rPr>
              <a:t>VS Code +</a:t>
            </a:r>
            <a:br/>
            <a:r>
              <a:rPr sz="1500" b="1">
                <a:solidFill>
                  <a:srgbClr val="ACA89F"/>
                </a:solidFill>
                <a:latin typeface="Aptos"/>
              </a:rPr>
              <a:t>GitHub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48840"/>
            <a:ext cx="2468880" cy="26060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2423160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FAE6C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AZURE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CA89F"/>
                </a:solidFill>
                <a:latin typeface="Aptos"/>
              </a:rPr>
              <a:t>Azure CLI +</a:t>
            </a:r>
            <a:br/>
            <a:r>
              <a:rPr sz="1500" b="1">
                <a:solidFill>
                  <a:srgbClr val="ACA89F"/>
                </a:solidFill>
                <a:latin typeface="Aptos"/>
              </a:rPr>
              <a:t>AI Foundry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2148840"/>
            <a:ext cx="2468880" cy="260604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46336" y="2423160"/>
            <a:ext cx="502920" cy="50292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6336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FAE6C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2487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F3EC"/>
                </a:solidFill>
                <a:latin typeface="Aptos"/>
              </a:rPr>
              <a:t>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3246120"/>
            <a:ext cx="18745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CA89F"/>
                </a:solidFill>
                <a:latin typeface="Aptos"/>
              </a:rPr>
              <a:t>Audience + goal +</a:t>
            </a:r>
            <a:br/>
            <a:r>
              <a:rPr sz="1500" b="1">
                <a:solidFill>
                  <a:srgbClr val="ACA89F"/>
                </a:solidFill>
                <a:latin typeface="Aptos"/>
              </a:rPr>
              <a:t>duration + 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49240"/>
            <a:ext cx="9555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CA89F"/>
                </a:solidFill>
                <a:latin typeface="Aptos"/>
              </a:rPr>
              <a:t>Slate detects capability gaps and presents a setup plan before changing Azure resources.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373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379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CA89F"/>
                </a:solidFill>
                <a:latin typeface="Aptos"/>
              </a:rPr>
              <a:t>AI &amp; ML Connected Community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CA89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141732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32688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6F3EC"/>
                </a:solidFill>
                <a:latin typeface="Aptos Display"/>
              </a:rPr>
              <a:t>Explore the engine. Study the open-source inspiration.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110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D3B2"/>
                </a:solidFill>
                <a:latin typeface="Aptos"/>
              </a:rPr>
              <a:t>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836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Consolas"/>
              </a:rPr>
              <a:t>github.com/gim-home/SlateStudio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134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Code, architecture, use cases, components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090672"/>
            <a:ext cx="548640" cy="54864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06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0998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B9A5D"/>
                </a:solidFill>
                <a:latin typeface="Aptos"/>
              </a:rPr>
              <a:t>OPENMONTAGE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7238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Consolas"/>
              </a:rPr>
              <a:t>github.com/calesthio/OpenMontage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5021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Public open-source inspiration and examples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79392"/>
            <a:ext cx="548640" cy="548640"/>
          </a:xfrm>
          <a:prstGeom prst="ellipse">
            <a:avLst/>
          </a:prstGeom>
          <a:solidFill>
            <a:srgbClr val="161617"/>
          </a:solidFill>
          <a:ln w="15875"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93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FAE6C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885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FAE6C"/>
                </a:solidFill>
                <a:latin typeface="Aptos"/>
              </a:rPr>
              <a:t>START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26110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3EC"/>
                </a:solidFill>
                <a:latin typeface="Consolas"/>
              </a:rPr>
              <a:t>README.md  -&gt;  docs/EXAMPLE_USE_CASES.md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90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CA89F"/>
                </a:solidFill>
                <a:latin typeface="Aptos"/>
              </a:rPr>
              <a:t>Then run setup.ps1 and describe a video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47088"/>
            <a:ext cx="1965960" cy="2880360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21762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2D3B2"/>
                </a:solidFill>
                <a:latin typeface="Aptos"/>
              </a:rPr>
              <a:t>FIRST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7889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6F3EC"/>
                </a:solidFill>
                <a:latin typeface="Aptos"/>
              </a:rPr>
              <a:t>"Turn this deck</a:t>
            </a:r>
            <a:br/>
            <a:r>
              <a:rPr sz="1700" b="1">
                <a:solidFill>
                  <a:srgbClr val="F6F3EC"/>
                </a:solidFill>
                <a:latin typeface="Aptos"/>
              </a:rPr>
              <a:t>into a 60-second</a:t>
            </a:r>
            <a:br/>
            <a:r>
              <a:rPr sz="1700" b="1">
                <a:solidFill>
                  <a:srgbClr val="F6F3EC"/>
                </a:solidFill>
                <a:latin typeface="Aptos"/>
              </a:rPr>
              <a:t>video for..."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50292"/>
            <a:ext cx="13716" cy="6080760"/>
          </a:xfrm>
          <a:prstGeom prst="rect">
            <a:avLst/>
          </a:prstGeom>
          <a:solidFill>
            <a:srgbClr val="37342F"/>
          </a:solidFill>
          <a:ln>
            <a:solidFill>
              <a:srgbClr val="373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94360"/>
            <a:ext cx="777240" cy="310896"/>
          </a:xfrm>
          <a:prstGeom prst="roundRect">
            <a:avLst>
              <a:gd name="adj" fmla="val 3500"/>
            </a:avLst>
          </a:prstGeom>
          <a:solidFill>
            <a:srgbClr val="161617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0807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FAE6C"/>
                </a:solidFill>
                <a:latin typeface="Aptos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9875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6F3EC"/>
                </a:solidFill>
                <a:latin typeface="Aptos Display"/>
              </a:rPr>
              <a:t>THE FUTURE OF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CFAE6C"/>
                </a:solidFill>
                <a:latin typeface="Aptos Display"/>
              </a:rPr>
              <a:t>IS DIRECTED,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6F3EC"/>
                </a:solidFill>
                <a:latin typeface="Aptos Display"/>
              </a:rPr>
              <a:t>NOT JUST EDITED.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1605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ACA89F"/>
                </a:solidFill>
                <a:latin typeface="Aptos"/>
              </a:rPr>
              <a:t>What would you ask an AI director to make?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257800"/>
            <a:ext cx="310896" cy="868680"/>
          </a:xfrm>
          <a:prstGeom prst="roundRect">
            <a:avLst>
              <a:gd name="adj" fmla="val 3500"/>
            </a:avLst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87967" y="4818888"/>
            <a:ext cx="310896" cy="1307592"/>
          </a:xfrm>
          <a:prstGeom prst="roundRect">
            <a:avLst>
              <a:gd name="adj" fmla="val 3500"/>
            </a:avLst>
          </a:prstGeom>
          <a:solidFill>
            <a:srgbClr val="E2D3B2"/>
          </a:solidFill>
          <a:ln>
            <a:solidFill>
              <a:srgbClr val="E2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3455" y="4379976"/>
            <a:ext cx="310896" cy="1746504"/>
          </a:xfrm>
          <a:prstGeom prst="roundRect">
            <a:avLst>
              <a:gd name="adj" fmla="val 3500"/>
            </a:avLst>
          </a:prstGeom>
          <a:solidFill>
            <a:srgbClr val="BB9A5D"/>
          </a:solidFill>
          <a:ln>
            <a:solidFill>
              <a:srgbClr val="BB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38944" y="3941064"/>
            <a:ext cx="310896" cy="2185415"/>
          </a:xfrm>
          <a:prstGeom prst="roundRect">
            <a:avLst>
              <a:gd name="adj" fmla="val 3500"/>
            </a:avLst>
          </a:prstGeom>
          <a:solidFill>
            <a:srgbClr val="CFAE6C"/>
          </a:solidFill>
          <a:ln>
            <a:solidFill>
              <a:srgbClr val="CF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14432" y="3502152"/>
            <a:ext cx="310896" cy="2624328"/>
          </a:xfrm>
          <a:prstGeom prst="roundRect">
            <a:avLst>
              <a:gd name="adj" fmla="val 3500"/>
            </a:avLst>
          </a:prstGeom>
          <a:solidFill>
            <a:srgbClr val="96938B"/>
          </a:solidFill>
          <a:ln>
            <a:solidFill>
              <a:srgbClr val="96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035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CA89F"/>
                </a:solidFill>
                <a:latin typeface="Aptos"/>
              </a:rPr>
              <a:t>ISHAN BHATT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Premiere: Agentic Video Production with Slate</dc:title>
  <dc:subject>AI &amp; ML Connected Community Call</dc:subject>
  <dc:creator>Ishan Bhatt</dc:creator>
  <cp:keywords/>
  <dc:description>Draft deck generated for collaborative refinement.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