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3" r:id="rId8"/>
    <p:sldId id="261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96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alesthio/OpenMontage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nedrive.cloud.microsoft/my?id=%2Fa%40j4kj6sq6%2FDocuments%2FSlate%20Videos&amp;share=cgrnEJQhbtxNTIlwUCxrF4lkEgUCPRI86l%2DYAsXNHPOzREEa4w&amp;CT=1787800500867&amp;OR=OWA%2DNT%2DMail&amp;SI=SentItems&amp;SLSync=Y" TargetMode="External"/><Relationship Id="rId2" Type="http://schemas.openxmlformats.org/officeDocument/2006/relationships/hyperlink" Target="https://github.com/gim-home/SlateStudio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teams.microsoft.com/l/meetup-join/19%3ameeting_OThjODE3OTktMGJkZS00MDczLTk5YjItNDBiMzNiMzkxOTg1%40thread.v2/0?context=%7b%22Tid%22%3a%2272f988bf-86f1-41af-91ab-2d7cd011db47%22%2c%22Oid%22%3a%22d59af512-38f6-4b44-a63d-57d11e8b6fe7%22%7d" TargetMode="External"/><Relationship Id="rId4" Type="http://schemas.openxmlformats.org/officeDocument/2006/relationships/hyperlink" Target="https://teams.microsoft.com/l/team/19%3AVAkxNGrvPQew7Y125vVQH2qWb5emtU1PAxGdm0P3IQA1%40thread.tacv2/conversations?groupId=2cddd44a-d6c1-41e3-8da3-a6e9a1cd1669&amp;tenantId=72f988bf-86f1-41af-91ab-2d7cd011db4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25603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D6A33D"/>
                </a:solidFill>
                <a:latin typeface="Gill Sans MT"/>
              </a:rPr>
              <a:t>A broader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68096"/>
            <a:ext cx="9418320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0">
                <a:solidFill>
                  <a:srgbClr val="F3EFE7"/>
                </a:solidFill>
                <a:latin typeface="Georgia"/>
              </a:rPr>
              <a:t>What else can an agent harness solve?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02368" y="438912"/>
            <a:ext cx="1719072" cy="475488"/>
          </a:xfrm>
          <a:prstGeom prst="roundRect">
            <a:avLst/>
          </a:prstGeom>
          <a:solidFill>
            <a:srgbClr val="292623"/>
          </a:solidFill>
          <a:ln w="12700">
            <a:solidFill>
              <a:srgbClr val="4A4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93808" y="576072"/>
            <a:ext cx="1536192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8DED0"/>
                </a:solidFill>
                <a:latin typeface="Gill Sans MT"/>
              </a:rPr>
              <a:t>BEYOND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87368" y="2157984"/>
            <a:ext cx="4023360" cy="1188720"/>
          </a:xfrm>
          <a:prstGeom prst="roundRect">
            <a:avLst/>
          </a:prstGeom>
          <a:solidFill>
            <a:srgbClr val="F5F0E7"/>
          </a:solidFill>
          <a:ln w="12700">
            <a:solidFill>
              <a:srgbClr val="D6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79976" y="2395728"/>
            <a:ext cx="3438144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9B6C19"/>
                </a:solidFill>
                <a:latin typeface="Gill Sans MT"/>
              </a:rPr>
              <a:t>CODING HARNESS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9976" y="2743200"/>
            <a:ext cx="3438144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181716"/>
                </a:solidFill>
                <a:latin typeface="Georgia"/>
              </a:rPr>
              <a:t>Reason + 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3063240"/>
            <a:ext cx="3438144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746F68"/>
                </a:solidFill>
                <a:latin typeface="Gill Sans MT"/>
              </a:rPr>
              <a:t>inside a real workspace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2542032" cy="859536"/>
          </a:xfrm>
          <a:prstGeom prst="roundRect">
            <a:avLst/>
          </a:prstGeom>
          <a:solidFill>
            <a:srgbClr val="292623"/>
          </a:solidFill>
          <a:ln w="12700">
            <a:solidFill>
              <a:srgbClr val="4A4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9808" y="1938528"/>
            <a:ext cx="82296" cy="859536"/>
          </a:xfrm>
          <a:prstGeom prst="rect">
            <a:avLst/>
          </a:prstGeom>
          <a:solidFill>
            <a:srgbClr val="C6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093976"/>
            <a:ext cx="2084831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65C3B"/>
                </a:solidFill>
                <a:latin typeface="Gill Sans MT"/>
              </a:rPr>
              <a:t>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395728"/>
            <a:ext cx="20848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3EFE7"/>
                </a:solidFill>
                <a:latin typeface="Gill Sans MT"/>
              </a:rPr>
              <a:t>Files + project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27832"/>
            <a:ext cx="2542032" cy="859536"/>
          </a:xfrm>
          <a:prstGeom prst="roundRect">
            <a:avLst/>
          </a:prstGeom>
          <a:solidFill>
            <a:srgbClr val="292623"/>
          </a:solidFill>
          <a:ln w="12700">
            <a:solidFill>
              <a:srgbClr val="4A4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8" y="3227832"/>
            <a:ext cx="82296" cy="859536"/>
          </a:xfrm>
          <a:prstGeom prst="rect">
            <a:avLst/>
          </a:prstGeom>
          <a:solidFill>
            <a:srgbClr val="50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3383279"/>
            <a:ext cx="2084831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06B7A"/>
                </a:solidFill>
                <a:latin typeface="Gill Sans MT"/>
              </a:rPr>
              <a:t>LOCAL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685031"/>
            <a:ext cx="20848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3EFE7"/>
                </a:solidFill>
                <a:latin typeface="Gill Sans MT"/>
              </a:rPr>
              <a:t>Run real applications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97112" y="1938528"/>
            <a:ext cx="2542032" cy="859536"/>
          </a:xfrm>
          <a:prstGeom prst="roundRect">
            <a:avLst/>
          </a:prstGeom>
          <a:solidFill>
            <a:srgbClr val="292623"/>
          </a:solidFill>
          <a:ln w="12700">
            <a:solidFill>
              <a:srgbClr val="4A4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97112" y="1938528"/>
            <a:ext cx="82296" cy="859536"/>
          </a:xfrm>
          <a:prstGeom prst="rect">
            <a:avLst/>
          </a:prstGeom>
          <a:solidFill>
            <a:srgbClr val="5F6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34856" y="2093976"/>
            <a:ext cx="2084831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F6D59"/>
                </a:solidFill>
                <a:latin typeface="Gill Sans MT"/>
              </a:rPr>
              <a:t>LIVE 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2395728"/>
            <a:ext cx="20848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3EFE7"/>
                </a:solidFill>
                <a:latin typeface="Gill Sans MT"/>
              </a:rPr>
              <a:t>Research current facts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7112" y="3227832"/>
            <a:ext cx="2542032" cy="859536"/>
          </a:xfrm>
          <a:prstGeom prst="roundRect">
            <a:avLst/>
          </a:prstGeom>
          <a:solidFill>
            <a:srgbClr val="292623"/>
          </a:solidFill>
          <a:ln w="12700">
            <a:solidFill>
              <a:srgbClr val="4A4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97112" y="3227832"/>
            <a:ext cx="82296" cy="859536"/>
          </a:xfrm>
          <a:prstGeom prst="rect">
            <a:avLst/>
          </a:prstGeom>
          <a:solidFill>
            <a:srgbClr val="D6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34856" y="3383279"/>
            <a:ext cx="2084831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D6A33D"/>
                </a:solidFill>
                <a:latin typeface="Gill Sans MT"/>
              </a:rPr>
              <a:t>SUB-AGENTS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3685031"/>
            <a:ext cx="20848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3EFE7"/>
                </a:solidFill>
                <a:latin typeface="Gill Sans MT"/>
              </a:rPr>
              <a:t>Delegate specialist work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27448" y="4005072"/>
            <a:ext cx="2743200" cy="859536"/>
          </a:xfrm>
          <a:prstGeom prst="roundRect">
            <a:avLst/>
          </a:prstGeom>
          <a:solidFill>
            <a:srgbClr val="292623"/>
          </a:solidFill>
          <a:ln w="12700">
            <a:solidFill>
              <a:srgbClr val="4A4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27448" y="4005072"/>
            <a:ext cx="82296" cy="859536"/>
          </a:xfrm>
          <a:prstGeom prst="rect">
            <a:avLst/>
          </a:prstGeom>
          <a:solidFill>
            <a:srgbClr val="C6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65192" y="4160520"/>
            <a:ext cx="22860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65C3B"/>
                </a:solidFill>
                <a:latin typeface="Gill Sans MT"/>
              </a:rPr>
              <a:t>HUMAN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5192" y="4462272"/>
            <a:ext cx="2286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3EFE7"/>
                </a:solidFill>
                <a:latin typeface="Gill Sans MT"/>
              </a:rPr>
              <a:t>Review · redirect · approve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91840" y="2368296"/>
            <a:ext cx="795528" cy="173736"/>
          </a:xfrm>
          <a:prstGeom prst="line">
            <a:avLst/>
          </a:prstGeom>
          <a:ln w="19050">
            <a:solidFill>
              <a:srgbClr val="5E5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291840" y="2999232"/>
            <a:ext cx="795528" cy="658368"/>
          </a:xfrm>
          <a:prstGeom prst="line">
            <a:avLst/>
          </a:prstGeom>
          <a:ln w="19050">
            <a:solidFill>
              <a:srgbClr val="5E5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110727" y="2368296"/>
            <a:ext cx="786385" cy="173736"/>
          </a:xfrm>
          <a:prstGeom prst="line">
            <a:avLst/>
          </a:prstGeom>
          <a:ln w="19050">
            <a:solidFill>
              <a:srgbClr val="5E5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110727" y="2999232"/>
            <a:ext cx="786385" cy="658368"/>
          </a:xfrm>
          <a:prstGeom prst="line">
            <a:avLst/>
          </a:prstGeom>
          <a:ln w="19050">
            <a:solidFill>
              <a:srgbClr val="5E5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99048" y="3346704"/>
            <a:ext cx="0" cy="658368"/>
          </a:xfrm>
          <a:prstGeom prst="line">
            <a:avLst/>
          </a:prstGeom>
          <a:ln w="19050">
            <a:solidFill>
              <a:srgbClr val="5E5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05840" y="5138928"/>
            <a:ext cx="10168128" cy="1115568"/>
          </a:xfrm>
          <a:prstGeom prst="roundRect">
            <a:avLst/>
          </a:prstGeom>
          <a:solidFill>
            <a:srgbClr val="C6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98448" y="5285232"/>
            <a:ext cx="958291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Gill Sans MT"/>
              </a:rPr>
              <a:t>ONE SUCH PROBLEM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" y="5504688"/>
            <a:ext cx="958291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Georgia"/>
              </a:rPr>
              <a:t>Video production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5925312"/>
            <a:ext cx="9582912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Gill Sans MT"/>
              </a:rPr>
              <a:t>creative  ·  tool-heavy  ·  multi-stage  ·  reviewed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6419088"/>
            <a:ext cx="3749039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D6A33D"/>
                </a:solidFill>
                <a:latin typeface="Gill Sans MT"/>
              </a:rPr>
              <a:t>The rest of this talk is one answer.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uditorium-memory.png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530352"/>
            <a:ext cx="20116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D6A33D"/>
                </a:solidFill>
                <a:latin typeface="Gill Sans MT"/>
              </a:rPr>
              <a:t>Why Slate?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60704"/>
            <a:ext cx="5029200" cy="1417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0">
                <a:solidFill>
                  <a:srgbClr val="F3EFE7"/>
                </a:solidFill>
                <a:latin typeface="Georgia"/>
              </a:rPr>
              <a:t>Video stays
with people.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61488"/>
            <a:ext cx="512064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E8DED0"/>
                </a:solidFill>
                <a:latin typeface="Gill Sans MT"/>
              </a:rPr>
              <a:t>Seen   •   Felt   •   Remembered   •   Shared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76672"/>
            <a:ext cx="12191695" cy="1481328"/>
          </a:xfrm>
          <a:prstGeom prst="rect">
            <a:avLst/>
          </a:prstGeom>
          <a:solidFill>
            <a:srgbClr val="181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5650992"/>
            <a:ext cx="246888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3EFE7"/>
                </a:solidFill>
                <a:latin typeface="Georgia"/>
              </a:rPr>
              <a:t>PMs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089904"/>
            <a:ext cx="248716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D6A33D"/>
                </a:solidFill>
                <a:latin typeface="Gill Sans MT"/>
              </a:rPr>
              <a:t>Launches · roadmaps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5304" y="5650992"/>
            <a:ext cx="246888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3EFE7"/>
                </a:solidFill>
                <a:latin typeface="Georgia"/>
              </a:rPr>
              <a:t>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6089904"/>
            <a:ext cx="248716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E8DED0"/>
                </a:solidFill>
                <a:latin typeface="Gill Sans MT"/>
              </a:rPr>
              <a:t>Architecture · demos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5650992"/>
            <a:ext cx="246888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3EFE7"/>
                </a:solidFill>
                <a:latin typeface="Georgia"/>
              </a:rPr>
              <a:t>Trainers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6089904"/>
            <a:ext cx="248716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E8DED0"/>
                </a:solidFill>
                <a:latin typeface="Gill Sans MT"/>
              </a:rPr>
              <a:t>Onboarding ·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9448" y="5650992"/>
            <a:ext cx="246888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3EFE7"/>
                </a:solidFill>
                <a:latin typeface="Georgia"/>
              </a:rPr>
              <a:t>Leaders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9448" y="6089904"/>
            <a:ext cx="248716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D6A33D"/>
                </a:solidFill>
                <a:latin typeface="Gill Sans MT"/>
              </a:rPr>
              <a:t>Strategy · updates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93776"/>
            <a:ext cx="18288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C65C3B"/>
                </a:solidFill>
                <a:latin typeface="Gill Sans MT"/>
              </a:rPr>
              <a:t>The barrier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950976"/>
            <a:ext cx="3840480" cy="12070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300" b="0">
                <a:solidFill>
                  <a:srgbClr val="181716"/>
                </a:solidFill>
                <a:latin typeface="Georgia"/>
              </a:rPr>
              <a:t>One video.
Ten crafts.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36592" y="658368"/>
            <a:ext cx="4114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65C3B"/>
                </a:solidFill>
                <a:latin typeface="Gill Sans M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266944" y="822959"/>
            <a:ext cx="1389888" cy="16459"/>
          </a:xfrm>
          <a:prstGeom prst="rect">
            <a:avLst/>
          </a:prstGeom>
          <a:solidFill>
            <a:srgbClr val="C6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36592" y="1060704"/>
            <a:ext cx="19202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1716"/>
                </a:solidFill>
                <a:latin typeface="Georgia"/>
              </a:rPr>
              <a:t>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6592" y="1554480"/>
            <a:ext cx="1920240" cy="1417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24211F"/>
                </a:solidFill>
                <a:latin typeface="Gill Sans MT"/>
              </a:rPr>
              <a:t>Script
Scene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9168" y="658368"/>
            <a:ext cx="4114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5F6D59"/>
                </a:solidFill>
                <a:latin typeface="Gill Sans MT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19" y="822959"/>
            <a:ext cx="1527048" cy="16459"/>
          </a:xfrm>
          <a:prstGeom prst="rect">
            <a:avLst/>
          </a:prstGeom>
          <a:solidFill>
            <a:srgbClr val="5F6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59168" y="1060704"/>
            <a:ext cx="20574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1716"/>
                </a:solidFill>
                <a:latin typeface="Georgia"/>
              </a:rPr>
              <a:t>Craft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1554480"/>
            <a:ext cx="2057400" cy="1417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24211F"/>
                </a:solidFill>
                <a:latin typeface="Gill Sans MT"/>
              </a:rPr>
              <a:t>Narration
Images + clips
Motion graphics
Animation
Transitions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8368"/>
            <a:ext cx="4114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506B7A"/>
                </a:solidFill>
                <a:latin typeface="Gill Sans MT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31552" y="822959"/>
            <a:ext cx="1435607" cy="16459"/>
          </a:xfrm>
          <a:prstGeom prst="rect">
            <a:avLst/>
          </a:prstGeom>
          <a:solidFill>
            <a:srgbClr val="50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0" y="1060704"/>
            <a:ext cx="196596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1716"/>
                </a:solidFill>
                <a:latin typeface="Georgia"/>
              </a:rPr>
              <a:t>Finish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554480"/>
            <a:ext cx="1965960" cy="1417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24211F"/>
                </a:solidFill>
                <a:latin typeface="Gill Sans MT"/>
              </a:rPr>
              <a:t>Music + captions
Edit + render
Web + mobile cuts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001768"/>
            <a:ext cx="12191695" cy="1856231"/>
          </a:xfrm>
          <a:prstGeom prst="rect">
            <a:avLst/>
          </a:prstGeom>
          <a:solidFill>
            <a:srgbClr val="181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5303520"/>
            <a:ext cx="160020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FE7"/>
                </a:solidFill>
                <a:latin typeface="Georgia"/>
              </a:rPr>
              <a:t>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815584"/>
            <a:ext cx="20116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6A33D"/>
                </a:solidFill>
                <a:latin typeface="Gill Sans MT"/>
              </a:rPr>
              <a:t>Creative 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504688"/>
            <a:ext cx="50292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C65C3B"/>
                </a:solidFill>
                <a:latin typeface="Gill Sans MT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303520"/>
            <a:ext cx="315468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FE7"/>
                </a:solidFill>
                <a:latin typeface="Georgia"/>
              </a:rPr>
              <a:t>GitHub 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5815584"/>
            <a:ext cx="16002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6A33D"/>
                </a:solidFill>
                <a:latin typeface="Gill Sans MT"/>
              </a:rPr>
              <a:t>Director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1775" y="5504688"/>
            <a:ext cx="50292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5F6D59"/>
                </a:solidFill>
                <a:latin typeface="Gill Sans MT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5303520"/>
            <a:ext cx="297180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FE7"/>
                </a:solidFill>
                <a:latin typeface="Georgia"/>
              </a:rPr>
              <a:t>Finished video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5815584"/>
            <a:ext cx="31546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6A33D"/>
                </a:solidFill>
                <a:latin typeface="Gill Sans MT"/>
              </a:rPr>
              <a:t>Web · mobile · stage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32918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C65C3B"/>
                </a:solidFill>
                <a:latin typeface="Gill Sans MT"/>
              </a:rPr>
              <a:t>How Slate came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804672"/>
            <a:ext cx="8229600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>
                <a:solidFill>
                  <a:srgbClr val="181716"/>
                </a:solidFill>
                <a:latin typeface="Georgia"/>
              </a:rPr>
              <a:t>Open Source Project. Same creator.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609344"/>
            <a:ext cx="5047488" cy="4645152"/>
          </a:xfrm>
          <a:prstGeom prst="rect">
            <a:avLst/>
          </a:prstGeom>
          <a:solidFill>
            <a:srgbClr val="181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94944" y="1609344"/>
            <a:ext cx="118872" cy="4645152"/>
          </a:xfrm>
          <a:prstGeom prst="rect">
            <a:avLst/>
          </a:prstGeom>
          <a:solidFill>
            <a:srgbClr val="D14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80176" y="1609344"/>
            <a:ext cx="5513832" cy="4645152"/>
          </a:xfrm>
          <a:prstGeom prst="rect">
            <a:avLst/>
          </a:prstGeom>
          <a:solidFill>
            <a:srgbClr val="FBF8F1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1920240"/>
            <a:ext cx="19202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D14A28"/>
                </a:solidFill>
                <a:latin typeface="Gill Sans MT"/>
              </a:rPr>
              <a:t>Inspired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231136"/>
            <a:ext cx="324612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F3EFE7"/>
                </a:solidFill>
                <a:latin typeface="Georgia"/>
              </a:rPr>
              <a:t>OpenMontage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880360"/>
            <a:ext cx="3913632" cy="8046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E8DED0"/>
                </a:solidFill>
                <a:latin typeface="Gill Sans MT"/>
              </a:rPr>
              <a:t>World’s first open-source
agentic video production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913632"/>
            <a:ext cx="141732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D6A33D"/>
                </a:solidFill>
                <a:latin typeface="Georgia"/>
              </a:rPr>
              <a:t>50K+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4443984"/>
            <a:ext cx="150876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3EFE7"/>
                </a:solidFill>
                <a:latin typeface="Gill Sans MT"/>
              </a:rPr>
              <a:t>GitHub stars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913632"/>
            <a:ext cx="123444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D6A33D"/>
                </a:solidFill>
                <a:latin typeface="Georgia"/>
              </a:rPr>
              <a:t>6.3K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443984"/>
            <a:ext cx="1143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3EFE7"/>
                </a:solidFill>
                <a:latin typeface="Gill Sans MT"/>
              </a:rPr>
              <a:t>forks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5010912"/>
            <a:ext cx="29260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dirty="0">
                <a:solidFill>
                  <a:srgbClr val="E8DED0"/>
                </a:solidFill>
                <a:latin typeface="Gill Sans MT"/>
              </a:rPr>
              <a:t>Viral across social media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5623560"/>
            <a:ext cx="40690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506B7A"/>
                </a:solidFill>
                <a:latin typeface="Gill Sans MT"/>
                <a:hlinkClick r:id="rId2"/>
              </a:rPr>
              <a:t>github.com/calesthio/OpenMontage  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920240"/>
            <a:ext cx="182880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5F6D59"/>
                </a:solidFill>
                <a:latin typeface="Gill Sans MT"/>
              </a:rPr>
              <a:t>The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04288"/>
            <a:ext cx="475488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>
                <a:solidFill>
                  <a:srgbClr val="181716"/>
                </a:solidFill>
                <a:latin typeface="Georgia"/>
              </a:rPr>
              <a:t>Why stop at creators?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3108960"/>
            <a:ext cx="4800600" cy="32004"/>
          </a:xfrm>
          <a:prstGeom prst="rect">
            <a:avLst/>
          </a:prstGeom>
          <a:solidFill>
            <a:srgbClr val="C6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27648" y="3429000"/>
            <a:ext cx="1993392" cy="877824"/>
          </a:xfrm>
          <a:prstGeom prst="rect">
            <a:avLst/>
          </a:prstGeom>
          <a:solidFill>
            <a:srgbClr val="F4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87968" y="3429000"/>
            <a:ext cx="2221992" cy="877824"/>
          </a:xfrm>
          <a:prstGeom prst="rect">
            <a:avLst/>
          </a:prstGeom>
          <a:solidFill>
            <a:srgbClr val="E2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511296"/>
            <a:ext cx="1755648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" b="1">
                <a:solidFill>
                  <a:srgbClr val="24211F"/>
                </a:solidFill>
                <a:latin typeface="Gill Sans MT"/>
              </a:rPr>
              <a:t>Real-world
need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3511296"/>
            <a:ext cx="1975104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1900" b="1">
                <a:solidFill>
                  <a:srgbClr val="24211F"/>
                </a:solidFill>
                <a:latin typeface="Gill Sans MT"/>
              </a:rPr>
              <a:t>Open-source
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648456"/>
            <a:ext cx="31089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C65C3B"/>
                </a:solidFill>
                <a:latin typeface="Georgia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4443984"/>
            <a:ext cx="521208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746F68"/>
                </a:solidFill>
                <a:latin typeface="Gill Sans MT"/>
              </a:rPr>
              <a:t>PMs  ·  Engineers  ·  Trainers  ·  Leaders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928616"/>
            <a:ext cx="2240280" cy="6035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C65C3B"/>
                </a:solidFill>
                <a:latin typeface="Georgia"/>
              </a:rPr>
              <a:t>Slate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5522976"/>
            <a:ext cx="3337560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1716"/>
                </a:solidFill>
                <a:latin typeface="Gill Sans MT"/>
              </a:rPr>
              <a:t>Agentic video for business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capability-video-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5-vscode-slate-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310896"/>
            <a:ext cx="310896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C65C3B"/>
                </a:solidFill>
                <a:latin typeface="Gill Sans MT"/>
              </a:rP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76656"/>
            <a:ext cx="658368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>
                <a:solidFill>
                  <a:srgbClr val="181716"/>
                </a:solidFill>
                <a:latin typeface="Georgia"/>
              </a:rPr>
              <a:t>From an idea to a reviewed video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47088"/>
            <a:ext cx="1371600" cy="1152144"/>
          </a:xfrm>
          <a:prstGeom prst="roundRect">
            <a:avLst/>
          </a:prstGeom>
          <a:solidFill>
            <a:srgbClr val="FBF8F1"/>
          </a:solidFill>
          <a:ln w="12700">
            <a:solidFill>
              <a:srgbClr val="C65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2057400"/>
            <a:ext cx="122529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81716"/>
                </a:solidFill>
                <a:latin typeface="Georgia"/>
              </a:rPr>
              <a:t>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1448"/>
            <a:ext cx="118872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0">
                <a:solidFill>
                  <a:srgbClr val="746F68"/>
                </a:solidFill>
                <a:latin typeface="Gill Sans MT"/>
              </a:rPr>
              <a:t>You + Copilot</a:t>
            </a:r>
          </a:p>
        </p:txBody>
      </p:sp>
      <p:sp>
        <p:nvSpPr>
          <p:cNvPr id="8" name="Chevron 7"/>
          <p:cNvSpPr/>
          <p:nvPr/>
        </p:nvSpPr>
        <p:spPr>
          <a:xfrm>
            <a:off x="2066544" y="2221992"/>
            <a:ext cx="256032" cy="384048"/>
          </a:xfrm>
          <a:prstGeom prst="chevron">
            <a:avLst/>
          </a:prstGeom>
          <a:solidFill>
            <a:srgbClr val="C6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414016" y="1847088"/>
            <a:ext cx="1591056" cy="1152144"/>
          </a:xfrm>
          <a:prstGeom prst="roundRect">
            <a:avLst/>
          </a:prstGeom>
          <a:solidFill>
            <a:srgbClr val="FBF8F1"/>
          </a:solidFill>
          <a:ln w="12700">
            <a:solidFill>
              <a:srgbClr val="9B6C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87168" y="2057400"/>
            <a:ext cx="1444752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81716"/>
                </a:solidFill>
                <a:latin typeface="Georgia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5456" y="2441448"/>
            <a:ext cx="1408176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0">
                <a:solidFill>
                  <a:srgbClr val="746F68"/>
                </a:solidFill>
                <a:latin typeface="Gill Sans MT"/>
              </a:rPr>
              <a:t>Research · script
Scene plan</a:t>
            </a:r>
          </a:p>
        </p:txBody>
      </p:sp>
      <p:sp>
        <p:nvSpPr>
          <p:cNvPr id="12" name="Chevron 11"/>
          <p:cNvSpPr/>
          <p:nvPr/>
        </p:nvSpPr>
        <p:spPr>
          <a:xfrm>
            <a:off x="4078224" y="2221992"/>
            <a:ext cx="256032" cy="384048"/>
          </a:xfrm>
          <a:prstGeom prst="chevron">
            <a:avLst/>
          </a:prstGeom>
          <a:solidFill>
            <a:srgbClr val="9B6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25696" y="1847088"/>
            <a:ext cx="1591056" cy="1152144"/>
          </a:xfrm>
          <a:prstGeom prst="roundRect">
            <a:avLst/>
          </a:prstGeom>
          <a:solidFill>
            <a:srgbClr val="FBF8F1"/>
          </a:solidFill>
          <a:ln w="12700">
            <a:solidFill>
              <a:srgbClr val="5F6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8848" y="2057400"/>
            <a:ext cx="1444752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81716"/>
                </a:solidFill>
                <a:latin typeface="Georgia"/>
              </a:rPr>
              <a:t>Create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441448"/>
            <a:ext cx="1408176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0">
                <a:solidFill>
                  <a:srgbClr val="746F68"/>
                </a:solidFill>
                <a:latin typeface="Gill Sans MT"/>
              </a:rPr>
              <a:t>Images · video
Voice · captions</a:t>
            </a:r>
          </a:p>
        </p:txBody>
      </p:sp>
      <p:sp>
        <p:nvSpPr>
          <p:cNvPr id="16" name="Chevron 15"/>
          <p:cNvSpPr/>
          <p:nvPr/>
        </p:nvSpPr>
        <p:spPr>
          <a:xfrm>
            <a:off x="6089904" y="2221992"/>
            <a:ext cx="256032" cy="384048"/>
          </a:xfrm>
          <a:prstGeom prst="chevron">
            <a:avLst/>
          </a:prstGeom>
          <a:solidFill>
            <a:srgbClr val="5F6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37376" y="1847088"/>
            <a:ext cx="1591056" cy="1152144"/>
          </a:xfrm>
          <a:prstGeom prst="roundRect">
            <a:avLst/>
          </a:prstGeom>
          <a:solidFill>
            <a:srgbClr val="FBF8F1"/>
          </a:solidFill>
          <a:ln w="12700">
            <a:solidFill>
              <a:srgbClr val="50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2057400"/>
            <a:ext cx="1444752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81716"/>
                </a:solidFill>
                <a:latin typeface="Georgia"/>
              </a:rPr>
              <a:t>Assemble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2441448"/>
            <a:ext cx="1408176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0">
                <a:solidFill>
                  <a:srgbClr val="746F68"/>
                </a:solidFill>
                <a:latin typeface="Gill Sans MT"/>
              </a:rPr>
              <a:t>Motion · music
Edit</a:t>
            </a:r>
          </a:p>
        </p:txBody>
      </p:sp>
      <p:sp>
        <p:nvSpPr>
          <p:cNvPr id="20" name="Chevron 19"/>
          <p:cNvSpPr/>
          <p:nvPr/>
        </p:nvSpPr>
        <p:spPr>
          <a:xfrm>
            <a:off x="8101583" y="2221992"/>
            <a:ext cx="256032" cy="384048"/>
          </a:xfrm>
          <a:prstGeom prst="chevron">
            <a:avLst/>
          </a:prstGeom>
          <a:solidFill>
            <a:srgbClr val="50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49056" y="1847088"/>
            <a:ext cx="1444752" cy="1152144"/>
          </a:xfrm>
          <a:prstGeom prst="roundRect">
            <a:avLst/>
          </a:prstGeom>
          <a:solidFill>
            <a:srgbClr val="FBF8F1"/>
          </a:solidFill>
          <a:ln w="12700">
            <a:solidFill>
              <a:srgbClr val="D6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22208" y="2057400"/>
            <a:ext cx="129844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81716"/>
                </a:solidFill>
                <a:latin typeface="Georgia"/>
              </a:rPr>
              <a:t>Inspect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496" y="2441448"/>
            <a:ext cx="1261872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0">
                <a:solidFill>
                  <a:srgbClr val="746F68"/>
                </a:solidFill>
                <a:latin typeface="Gill Sans MT"/>
              </a:rPr>
              <a:t>Quality review</a:t>
            </a:r>
          </a:p>
        </p:txBody>
      </p:sp>
      <p:sp>
        <p:nvSpPr>
          <p:cNvPr id="24" name="Chevron 23"/>
          <p:cNvSpPr/>
          <p:nvPr/>
        </p:nvSpPr>
        <p:spPr>
          <a:xfrm>
            <a:off x="9966960" y="2221992"/>
            <a:ext cx="256032" cy="384048"/>
          </a:xfrm>
          <a:prstGeom prst="chevron">
            <a:avLst/>
          </a:prstGeom>
          <a:solidFill>
            <a:srgbClr val="D6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314432" y="1847088"/>
            <a:ext cx="1243584" cy="1152144"/>
          </a:xfrm>
          <a:prstGeom prst="roundRect">
            <a:avLst/>
          </a:prstGeom>
          <a:solidFill>
            <a:srgbClr val="FBF8F1"/>
          </a:solidFill>
          <a:ln w="12700">
            <a:solidFill>
              <a:srgbClr val="C65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87584" y="2057400"/>
            <a:ext cx="10972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81716"/>
                </a:solidFill>
                <a:latin typeface="Georgia"/>
              </a:rPr>
              <a:t>Deliver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05872" y="2441448"/>
            <a:ext cx="1060704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0">
                <a:solidFill>
                  <a:srgbClr val="746F68"/>
                </a:solidFill>
                <a:latin typeface="Gill Sans MT"/>
              </a:rPr>
              <a:t>Video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03120" y="3730752"/>
            <a:ext cx="2670048" cy="1225296"/>
          </a:xfrm>
          <a:prstGeom prst="roundRect">
            <a:avLst/>
          </a:prstGeom>
          <a:solidFill>
            <a:srgbClr val="181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313432" y="3922776"/>
            <a:ext cx="2249424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3EFE7"/>
                </a:solidFill>
                <a:latin typeface="Georgia"/>
              </a:rPr>
              <a:t>Azure AI Foundry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13432" y="4297680"/>
            <a:ext cx="2249424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1600" b="0">
                <a:solidFill>
                  <a:srgbClr val="E8DED0"/>
                </a:solidFill>
                <a:latin typeface="Gill Sans MT"/>
              </a:rPr>
              <a:t>Images · video
Narration · captions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3730752"/>
            <a:ext cx="3127248" cy="1225296"/>
          </a:xfrm>
          <a:prstGeom prst="roundRect">
            <a:avLst/>
          </a:prstGeom>
          <a:solidFill>
            <a:srgbClr val="24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95744" y="3922776"/>
            <a:ext cx="265176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3EFE7"/>
                </a:solidFill>
                <a:latin typeface="Georgia"/>
              </a:rPr>
              <a:t>Inspection +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95744" y="4297680"/>
            <a:ext cx="2651760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1600" b="0">
                <a:solidFill>
                  <a:srgbClr val="E8DED0"/>
                </a:solidFill>
                <a:latin typeface="Gill Sans MT"/>
              </a:rPr>
              <a:t>Video · audio
Captions · brand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3438144" y="3300984"/>
            <a:ext cx="0" cy="429768"/>
          </a:xfrm>
          <a:prstGeom prst="line">
            <a:avLst/>
          </a:prstGeom>
          <a:ln w="25400">
            <a:solidFill>
              <a:srgbClr val="C65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8144" y="3300984"/>
            <a:ext cx="1682496" cy="0"/>
          </a:xfrm>
          <a:prstGeom prst="line">
            <a:avLst/>
          </a:prstGeom>
          <a:ln w="25400">
            <a:solidFill>
              <a:srgbClr val="C65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120640" y="2999232"/>
            <a:ext cx="0" cy="301752"/>
          </a:xfrm>
          <a:prstGeom prst="line">
            <a:avLst/>
          </a:prstGeom>
          <a:ln w="25400">
            <a:solidFill>
              <a:srgbClr val="C65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evron 36"/>
          <p:cNvSpPr/>
          <p:nvPr/>
        </p:nvSpPr>
        <p:spPr>
          <a:xfrm>
            <a:off x="4992624" y="2907792"/>
            <a:ext cx="256032" cy="310896"/>
          </a:xfrm>
          <a:prstGeom prst="chevron">
            <a:avLst/>
          </a:prstGeom>
          <a:solidFill>
            <a:srgbClr val="C6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 flipV="1">
            <a:off x="8421624" y="2999232"/>
            <a:ext cx="0" cy="731520"/>
          </a:xfrm>
          <a:prstGeom prst="line">
            <a:avLst/>
          </a:prstGeom>
          <a:ln w="25400">
            <a:solidFill>
              <a:srgbClr val="D6A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hevron 38"/>
          <p:cNvSpPr/>
          <p:nvPr/>
        </p:nvSpPr>
        <p:spPr>
          <a:xfrm>
            <a:off x="8293608" y="2907792"/>
            <a:ext cx="256032" cy="310896"/>
          </a:xfrm>
          <a:prstGeom prst="chevron">
            <a:avLst/>
          </a:prstGeom>
          <a:solidFill>
            <a:srgbClr val="D6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8421624" y="4956048"/>
            <a:ext cx="0" cy="603504"/>
          </a:xfrm>
          <a:prstGeom prst="line">
            <a:avLst/>
          </a:prstGeom>
          <a:ln w="25400">
            <a:solidFill>
              <a:srgbClr val="C65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3675887" y="5559552"/>
            <a:ext cx="4745737" cy="0"/>
          </a:xfrm>
          <a:prstGeom prst="line">
            <a:avLst/>
          </a:prstGeom>
          <a:ln w="25400">
            <a:solidFill>
              <a:srgbClr val="C65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675887" y="5248656"/>
            <a:ext cx="0" cy="310896"/>
          </a:xfrm>
          <a:prstGeom prst="line">
            <a:avLst/>
          </a:prstGeom>
          <a:ln w="25400">
            <a:solidFill>
              <a:srgbClr val="C65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669280" y="5358384"/>
            <a:ext cx="713232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C65C3B"/>
                </a:solidFill>
                <a:latin typeface="Gill Sans MT"/>
              </a:rPr>
              <a:t>revise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1560" y="5925312"/>
            <a:ext cx="10076688" cy="493776"/>
          </a:xfrm>
          <a:prstGeom prst="round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371600" y="6062472"/>
            <a:ext cx="16459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4211F"/>
                </a:solidFill>
                <a:latin typeface="Gill Sans MT"/>
              </a:rPr>
              <a:t>Human approvals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58768" y="6062472"/>
            <a:ext cx="9144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4211F"/>
                </a:solidFill>
                <a:latin typeface="Gill Sans MT"/>
              </a:rPr>
              <a:t>Brand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97296" y="6062472"/>
            <a:ext cx="138988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4211F"/>
                </a:solidFill>
                <a:latin typeface="Gill Sans MT"/>
              </a:rPr>
              <a:t>Cost controls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6062472"/>
            <a:ext cx="1261872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4211F"/>
                </a:solidFill>
                <a:latin typeface="Gill Sans MT"/>
              </a:rPr>
              <a:t>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9184"/>
            <a:ext cx="283464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D6A33D"/>
                </a:solidFill>
                <a:latin typeface="Gill Sans MT"/>
              </a:rPr>
              <a:t>The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31520"/>
            <a:ext cx="7095744" cy="4937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>
                <a:solidFill>
                  <a:srgbClr val="F3EFE7"/>
                </a:solidFill>
                <a:latin typeface="Georgia"/>
              </a:rPr>
              <a:t>Creative freedom. Production discipline.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310896"/>
            <a:ext cx="1353312" cy="841248"/>
          </a:xfrm>
          <a:prstGeom prst="roundRect">
            <a:avLst/>
          </a:prstGeom>
          <a:solidFill>
            <a:srgbClr val="2A2826"/>
          </a:solidFill>
          <a:ln w="12700">
            <a:solidFill>
              <a:srgbClr val="4A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47304" y="457200"/>
            <a:ext cx="969264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D6A33D"/>
                </a:solidFill>
                <a:latin typeface="Gill Sans MT"/>
              </a:rPr>
              <a:t>EASY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83296" y="758952"/>
            <a:ext cx="109728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3EFE7"/>
                </a:solidFill>
                <a:latin typeface="Gill Sans MT"/>
              </a:rPr>
              <a:t>Tools + skills</a:t>
            </a:r>
          </a:p>
        </p:txBody>
      </p:sp>
      <p:sp>
        <p:nvSpPr>
          <p:cNvPr id="7" name="Chevron 6"/>
          <p:cNvSpPr/>
          <p:nvPr/>
        </p:nvSpPr>
        <p:spPr>
          <a:xfrm>
            <a:off x="9473184" y="548640"/>
            <a:ext cx="310896" cy="384048"/>
          </a:xfrm>
          <a:prstGeom prst="chevron">
            <a:avLst/>
          </a:prstGeom>
          <a:solidFill>
            <a:srgbClr val="C6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948672" y="310896"/>
            <a:ext cx="1645920" cy="841248"/>
          </a:xfrm>
          <a:prstGeom prst="roundRect">
            <a:avLst/>
          </a:prstGeom>
          <a:solidFill>
            <a:srgbClr val="C6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131552" y="457200"/>
            <a:ext cx="128016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Gill Sans MT"/>
              </a:rPr>
              <a:t>HARD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758952"/>
            <a:ext cx="1426464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Gill Sans MT"/>
              </a:rPr>
              <a:t>End-to-end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554480"/>
            <a:ext cx="5138928" cy="4242816"/>
          </a:xfrm>
          <a:prstGeom prst="roundRect">
            <a:avLst/>
          </a:prstGeom>
          <a:solidFill>
            <a:srgbClr val="24211F"/>
          </a:solidFill>
          <a:ln w="12700">
            <a:solidFill>
              <a:srgbClr val="4A4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28232" y="1554480"/>
            <a:ext cx="5138928" cy="4242816"/>
          </a:xfrm>
          <a:prstGeom prst="roundRect">
            <a:avLst/>
          </a:prstGeom>
          <a:solidFill>
            <a:srgbClr val="F5F0E7"/>
          </a:solidFill>
          <a:ln w="12700">
            <a:solidFill>
              <a:srgbClr val="D7C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1865376"/>
            <a:ext cx="32004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3EFE7"/>
                </a:solidFill>
                <a:latin typeface="Georgia"/>
              </a:rPr>
              <a:t>Agent creativity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1865376"/>
            <a:ext cx="4187952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81716"/>
                </a:solidFill>
                <a:latin typeface="Georgia"/>
              </a:rPr>
              <a:t>Deterministic production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2432304"/>
            <a:ext cx="4498848" cy="493776"/>
          </a:xfrm>
          <a:prstGeom prst="roundRect">
            <a:avLst/>
          </a:prstGeom>
          <a:solidFill>
            <a:srgbClr val="2F2B28"/>
          </a:solidFill>
          <a:ln w="12700">
            <a:solidFill>
              <a:srgbClr val="49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2551176"/>
            <a:ext cx="38404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6A33D"/>
                </a:solidFill>
                <a:latin typeface="Gill Sans MT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523744"/>
            <a:ext cx="1170432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3EFE7"/>
                </a:solidFill>
                <a:latin typeface="Georgia"/>
              </a:rPr>
              <a:t>Meaning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2542032"/>
            <a:ext cx="2414016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E8DED0"/>
                </a:solidFill>
                <a:latin typeface="Gill Sans MT"/>
              </a:rPr>
              <a:t>What should this say?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48272" y="2432304"/>
            <a:ext cx="4498848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912864" y="2569464"/>
            <a:ext cx="210312" cy="210312"/>
          </a:xfrm>
          <a:prstGeom prst="ellipse">
            <a:avLst/>
          </a:prstGeom>
          <a:solidFill>
            <a:srgbClr val="5F6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22007" y="2560320"/>
            <a:ext cx="192024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Gill Sans MT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0336" y="2523744"/>
            <a:ext cx="21031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81716"/>
                </a:solidFill>
                <a:latin typeface="Gill Sans MT"/>
              </a:rPr>
              <a:t>Facts 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542032"/>
            <a:ext cx="1655064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746F68"/>
                </a:solidFill>
                <a:latin typeface="Gill Sans MT"/>
              </a:rPr>
              <a:t>Sources captured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60720" y="2679192"/>
            <a:ext cx="667512" cy="0"/>
          </a:xfrm>
          <a:prstGeom prst="line">
            <a:avLst/>
          </a:prstGeom>
          <a:ln w="15240">
            <a:solidFill>
              <a:srgbClr val="5E5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2688" y="3054096"/>
            <a:ext cx="4498848" cy="493776"/>
          </a:xfrm>
          <a:prstGeom prst="roundRect">
            <a:avLst/>
          </a:prstGeom>
          <a:solidFill>
            <a:srgbClr val="2F2B28"/>
          </a:solidFill>
          <a:ln w="12700">
            <a:solidFill>
              <a:srgbClr val="49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8992" y="3172968"/>
            <a:ext cx="38404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6A33D"/>
                </a:solidFill>
                <a:latin typeface="Gill Sans MT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3145536"/>
            <a:ext cx="1170432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3EFE7"/>
                </a:solidFill>
                <a:latin typeface="Georgia"/>
              </a:rPr>
              <a:t>Emotion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3163824"/>
            <a:ext cx="2414016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E8DED0"/>
                </a:solidFill>
                <a:latin typeface="Gill Sans MT"/>
              </a:rPr>
              <a:t>What should it feel like?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48272" y="3054096"/>
            <a:ext cx="4498848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912864" y="3191256"/>
            <a:ext cx="210312" cy="210312"/>
          </a:xfrm>
          <a:prstGeom prst="ellipse">
            <a:avLst/>
          </a:prstGeom>
          <a:solidFill>
            <a:srgbClr val="5F6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22007" y="3182112"/>
            <a:ext cx="192024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Gill Sans MT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0336" y="3145536"/>
            <a:ext cx="21031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81716"/>
                </a:solidFill>
                <a:latin typeface="Gill Sans MT"/>
              </a:rPr>
              <a:t>Direction approved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3163824"/>
            <a:ext cx="1655064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746F68"/>
                </a:solidFill>
                <a:latin typeface="Gill Sans MT"/>
              </a:rPr>
              <a:t>Human checkpoint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60720" y="3300984"/>
            <a:ext cx="667512" cy="0"/>
          </a:xfrm>
          <a:prstGeom prst="line">
            <a:avLst/>
          </a:prstGeom>
          <a:ln w="15240">
            <a:solidFill>
              <a:srgbClr val="5E5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32688" y="3675888"/>
            <a:ext cx="4498848" cy="493776"/>
          </a:xfrm>
          <a:prstGeom prst="roundRect">
            <a:avLst/>
          </a:prstGeom>
          <a:solidFill>
            <a:srgbClr val="2F2B28"/>
          </a:solidFill>
          <a:ln w="12700">
            <a:solidFill>
              <a:srgbClr val="49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78992" y="3794760"/>
            <a:ext cx="38404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6A33D"/>
                </a:solidFill>
                <a:latin typeface="Gill Sans MT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72768" y="3767328"/>
            <a:ext cx="1170432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3EFE7"/>
                </a:solidFill>
                <a:latin typeface="Georgia"/>
              </a:rPr>
              <a:t>Story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61488" y="3785616"/>
            <a:ext cx="2414016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E8DED0"/>
                </a:solidFill>
                <a:latin typeface="Gill Sans MT"/>
              </a:rPr>
              <a:t>How should it unfold?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48272" y="3675888"/>
            <a:ext cx="4498848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912864" y="3813048"/>
            <a:ext cx="210312" cy="210312"/>
          </a:xfrm>
          <a:prstGeom prst="ellipse">
            <a:avLst/>
          </a:prstGeom>
          <a:solidFill>
            <a:srgbClr val="5F6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22007" y="3803904"/>
            <a:ext cx="192024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Gill Sans MT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0336" y="3767328"/>
            <a:ext cx="21031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81716"/>
                </a:solidFill>
                <a:latin typeface="Gill Sans MT"/>
              </a:rPr>
              <a:t>Assets present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3785616"/>
            <a:ext cx="1655064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746F68"/>
                </a:solidFill>
                <a:latin typeface="Gill Sans MT"/>
              </a:rPr>
              <a:t>Nothing imaginary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760720" y="3922776"/>
            <a:ext cx="667512" cy="0"/>
          </a:xfrm>
          <a:prstGeom prst="line">
            <a:avLst/>
          </a:prstGeom>
          <a:ln w="15240">
            <a:solidFill>
              <a:srgbClr val="5E5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32688" y="4297680"/>
            <a:ext cx="4498848" cy="493776"/>
          </a:xfrm>
          <a:prstGeom prst="roundRect">
            <a:avLst/>
          </a:prstGeom>
          <a:solidFill>
            <a:srgbClr val="2F2B28"/>
          </a:solidFill>
          <a:ln w="12700">
            <a:solidFill>
              <a:srgbClr val="49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78992" y="4416552"/>
            <a:ext cx="38404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6A33D"/>
                </a:solidFill>
                <a:latin typeface="Gill Sans MT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72768" y="4389120"/>
            <a:ext cx="1170432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3EFE7"/>
                </a:solidFill>
                <a:latin typeface="Georgia"/>
              </a:rPr>
              <a:t>Visual world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61488" y="4407408"/>
            <a:ext cx="2414016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E8DED0"/>
                </a:solidFill>
                <a:latin typeface="Gill Sans MT"/>
              </a:rPr>
              <a:t>How should it look?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48272" y="4297680"/>
            <a:ext cx="4498848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6912864" y="4434840"/>
            <a:ext cx="210312" cy="210312"/>
          </a:xfrm>
          <a:prstGeom prst="ellipse">
            <a:avLst/>
          </a:prstGeom>
          <a:solidFill>
            <a:srgbClr val="5F6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922007" y="4425696"/>
            <a:ext cx="192024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Gill Sans MT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0336" y="4389120"/>
            <a:ext cx="21031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81716"/>
                </a:solidFill>
                <a:latin typeface="Gill Sans MT"/>
              </a:rPr>
              <a:t>Timing valid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72600" y="4407408"/>
            <a:ext cx="1655064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746F68"/>
                </a:solidFill>
                <a:latin typeface="Gill Sans MT"/>
              </a:rPr>
              <a:t>Audio fits the scene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760720" y="4544568"/>
            <a:ext cx="667512" cy="0"/>
          </a:xfrm>
          <a:prstGeom prst="line">
            <a:avLst/>
          </a:prstGeom>
          <a:ln w="15240">
            <a:solidFill>
              <a:srgbClr val="5E5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932688" y="4919472"/>
            <a:ext cx="4498848" cy="493776"/>
          </a:xfrm>
          <a:prstGeom prst="roundRect">
            <a:avLst/>
          </a:prstGeom>
          <a:solidFill>
            <a:srgbClr val="2F2B28"/>
          </a:solidFill>
          <a:ln w="12700">
            <a:solidFill>
              <a:srgbClr val="494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78992" y="5038344"/>
            <a:ext cx="38404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6A33D"/>
                </a:solidFill>
                <a:latin typeface="Gill Sans MT"/>
              </a:rPr>
              <a:t>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72768" y="5010912"/>
            <a:ext cx="1170432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3EFE7"/>
                </a:solidFill>
                <a:latin typeface="Georgia"/>
              </a:rPr>
              <a:t>Treatment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61488" y="5029200"/>
            <a:ext cx="2414016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E8DED0"/>
                </a:solidFill>
                <a:latin typeface="Gill Sans MT"/>
              </a:rPr>
              <a:t>Which idea is strongest?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748272" y="4919472"/>
            <a:ext cx="4498848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6912864" y="5056632"/>
            <a:ext cx="210312" cy="210312"/>
          </a:xfrm>
          <a:prstGeom prst="ellipse">
            <a:avLst/>
          </a:prstGeom>
          <a:solidFill>
            <a:srgbClr val="5F6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922007" y="5047488"/>
            <a:ext cx="192024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Gill Sans MT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5010912"/>
            <a:ext cx="210312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81716"/>
                </a:solidFill>
                <a:latin typeface="Gill Sans MT"/>
              </a:rPr>
              <a:t>Video inspected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72600" y="5029200"/>
            <a:ext cx="1655064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0">
                <a:solidFill>
                  <a:srgbClr val="746F68"/>
                </a:solidFill>
                <a:latin typeface="Gill Sans MT"/>
              </a:rPr>
              <a:t>Pass before delivery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760720" y="5166360"/>
            <a:ext cx="667512" cy="0"/>
          </a:xfrm>
          <a:prstGeom prst="line">
            <a:avLst/>
          </a:prstGeom>
          <a:ln w="15240">
            <a:solidFill>
              <a:srgbClr val="5E57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5577840" y="2157984"/>
            <a:ext cx="393192" cy="3346704"/>
          </a:xfrm>
          <a:prstGeom prst="roundRect">
            <a:avLst/>
          </a:prstGeom>
          <a:solidFill>
            <a:srgbClr val="C6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596128" y="2441448"/>
            <a:ext cx="356616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Gill Sans MT"/>
              </a:rPr>
              <a:t>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96128" y="2962656"/>
            <a:ext cx="356616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Gill Sans MT"/>
              </a:rPr>
              <a:t>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96128" y="3483863"/>
            <a:ext cx="356616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Gill Sans MT"/>
              </a:rPr>
              <a:t>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96128" y="4005072"/>
            <a:ext cx="356616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Gill Sans MT"/>
              </a:rPr>
              <a:t>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96128" y="4526279"/>
            <a:ext cx="356616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Gill Sans MT"/>
              </a:rPr>
              <a:t>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408176" y="6053328"/>
            <a:ext cx="9354312" cy="438912"/>
          </a:xfrm>
          <a:prstGeom prst="roundRect">
            <a:avLst/>
          </a:prstGeom>
          <a:solidFill>
            <a:srgbClr val="302C29"/>
          </a:solidFill>
          <a:ln w="12700">
            <a:solidFill>
              <a:srgbClr val="4A4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682496" y="6163056"/>
            <a:ext cx="283464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D6A33D"/>
                </a:solidFill>
                <a:latin typeface="Gill Sans MT"/>
              </a:rPr>
              <a:t>No reliance on agent memory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61104" y="6163056"/>
            <a:ext cx="6144768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F3EFE7"/>
                </a:solidFill>
                <a:latin typeface="Gill Sans MT"/>
              </a:rPr>
              <a:t>Choices become visible  ·  approved  ·  checked  ·  repeatable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816352"/>
            <a:ext cx="8531352" cy="7863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0">
                <a:solidFill>
                  <a:srgbClr val="F3EFE7"/>
                </a:solidFill>
                <a:latin typeface="Georgia"/>
              </a:rPr>
              <a:t>Walkthrough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9184"/>
            <a:ext cx="29260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C65C3B"/>
                </a:solidFill>
                <a:latin typeface="Gill Sans MT"/>
              </a:rPr>
              <a:t>How durability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31520"/>
            <a:ext cx="713232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dirty="0">
                <a:solidFill>
                  <a:srgbClr val="181716"/>
                </a:solidFill>
                <a:latin typeface="Georgia"/>
              </a:rPr>
              <a:t>The plan survives the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02752" y="804672"/>
            <a:ext cx="3236976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746F68"/>
                </a:solidFill>
                <a:latin typeface="Gill Sans MT"/>
              </a:rPr>
              <a:t>One scene, three layers of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08176"/>
            <a:ext cx="384048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65C3B"/>
                </a:solidFill>
                <a:latin typeface="Gill Sans MT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536192"/>
            <a:ext cx="457200" cy="22860"/>
          </a:xfrm>
          <a:prstGeom prst="rect">
            <a:avLst/>
          </a:prstGeom>
          <a:solidFill>
            <a:srgbClr val="C6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773936"/>
            <a:ext cx="283464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81716"/>
                </a:solidFill>
                <a:latin typeface="Georgia"/>
              </a:rPr>
              <a:t>Preserved artifacts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5072" y="1408176"/>
            <a:ext cx="384048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9B6C19"/>
                </a:solidFill>
                <a:latin typeface="Gill Sans MT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2272" y="1536192"/>
            <a:ext cx="457200" cy="22860"/>
          </a:xfrm>
          <a:prstGeom prst="rect">
            <a:avLst/>
          </a:prstGeom>
          <a:solidFill>
            <a:srgbClr val="9B6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05072" y="1773936"/>
            <a:ext cx="283464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81716"/>
                </a:solidFill>
                <a:latin typeface="Georgia"/>
              </a:rPr>
              <a:t>Scene blueprint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408176"/>
            <a:ext cx="384048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5F6D59"/>
                </a:solidFill>
                <a:latin typeface="Gill Sans MT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71232" y="1536192"/>
            <a:ext cx="457200" cy="22860"/>
          </a:xfrm>
          <a:prstGeom prst="rect">
            <a:avLst/>
          </a:prstGeom>
          <a:solidFill>
            <a:srgbClr val="5F6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14032" y="1773936"/>
            <a:ext cx="283464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81716"/>
                </a:solidFill>
                <a:latin typeface="Georgia"/>
              </a:rPr>
              <a:t>Rendered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267712"/>
            <a:ext cx="2999232" cy="3429000"/>
          </a:xfrm>
          <a:prstGeom prst="roundRect">
            <a:avLst/>
          </a:prstGeom>
          <a:solidFill>
            <a:srgbClr val="EEE7DB"/>
          </a:solidFill>
          <a:ln w="12700">
            <a:solidFill>
              <a:srgbClr val="D7C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9536" y="2523744"/>
            <a:ext cx="2523744" cy="58521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606039"/>
            <a:ext cx="215798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65C3B"/>
                </a:solidFill>
                <a:latin typeface="Gill Sans MT"/>
              </a:rPr>
              <a:t>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816351"/>
            <a:ext cx="2157984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81716"/>
                </a:solidFill>
                <a:latin typeface="Gill Sans MT"/>
              </a:rPr>
              <a:t>Engineering leaders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" y="3236976"/>
            <a:ext cx="2523744" cy="585216"/>
          </a:xfrm>
          <a:prstGeom prst="roundRect">
            <a:avLst/>
          </a:prstGeom>
          <a:solidFill>
            <a:srgbClr val="F8F3EA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319272"/>
            <a:ext cx="215798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65C3B"/>
                </a:solidFill>
                <a:latin typeface="Gill Sans MT"/>
              </a:rPr>
              <a:t>APPROVED 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529584"/>
            <a:ext cx="2157984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81716"/>
                </a:solidFill>
                <a:latin typeface="Gill Sans MT"/>
              </a:rPr>
              <a:t>Verify before you connect.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" y="3950208"/>
            <a:ext cx="2523744" cy="58521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032504"/>
            <a:ext cx="215798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65C3B"/>
                </a:solidFill>
                <a:latin typeface="Gill Sans MT"/>
              </a:rPr>
              <a:t>SCENE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42816"/>
            <a:ext cx="2157984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81716"/>
                </a:solidFill>
                <a:latin typeface="Gill Sans MT"/>
              </a:rPr>
              <a:t>Genuine green · Fake 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" y="4663440"/>
            <a:ext cx="2523744" cy="585216"/>
          </a:xfrm>
          <a:prstGeom prst="roundRect">
            <a:avLst/>
          </a:prstGeom>
          <a:solidFill>
            <a:srgbClr val="F8F3EA"/>
          </a:solidFill>
          <a:ln w="12700"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745736"/>
            <a:ext cx="2157984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F6D59"/>
                </a:solidFill>
                <a:latin typeface="Gill Sans MT"/>
              </a:rP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956048"/>
            <a:ext cx="2157984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81716"/>
                </a:solidFill>
                <a:latin typeface="Gill Sans MT"/>
              </a:rPr>
              <a:t>Treatment approved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05072" y="2267712"/>
            <a:ext cx="2670048" cy="3429000"/>
          </a:xfrm>
          <a:prstGeom prst="roundRect">
            <a:avLst/>
          </a:prstGeom>
          <a:solidFill>
            <a:srgbClr val="181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15968" y="2542032"/>
            <a:ext cx="2048256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D6A33D"/>
                </a:solidFill>
                <a:latin typeface="Georgia"/>
              </a:rPr>
              <a:t>SCENE 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2898648"/>
            <a:ext cx="2048256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8DED0"/>
                </a:solidFill>
                <a:latin typeface="Gill Sans MT"/>
              </a:rPr>
              <a:t>PRODUCTION BLUEPRINT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3246120"/>
            <a:ext cx="74980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746F68"/>
                </a:solidFill>
                <a:latin typeface="Gill Sans MT"/>
              </a:rPr>
              <a:t>Window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4064" y="3246120"/>
            <a:ext cx="1280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F3EFE7"/>
                </a:solidFill>
                <a:latin typeface="Georgia"/>
              </a:rPr>
              <a:t>12.6 sec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3602736"/>
            <a:ext cx="74980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746F68"/>
                </a:solidFill>
                <a:latin typeface="Gill Sans MT"/>
              </a:rPr>
              <a:t>Voice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3602736"/>
            <a:ext cx="1280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F3EFE7"/>
                </a:solidFill>
                <a:latin typeface="Georgia"/>
              </a:rPr>
              <a:t>12.1 sec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3959352"/>
            <a:ext cx="74980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746F68"/>
                </a:solidFill>
                <a:latin typeface="Gill Sans MT"/>
              </a:rPr>
              <a:t>Visual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3959352"/>
            <a:ext cx="1280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F3EFE7"/>
                </a:solidFill>
                <a:latin typeface="Georgia"/>
              </a:rPr>
              <a:t>Trust reveal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4315968"/>
            <a:ext cx="74980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746F68"/>
                </a:solidFill>
                <a:latin typeface="Gill Sans MT"/>
              </a:rPr>
              <a:t>Motion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4064" y="4315968"/>
            <a:ext cx="1280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F3EFE7"/>
                </a:solidFill>
                <a:latin typeface="Georgia"/>
              </a:rPr>
              <a:t>5 beats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4672583"/>
            <a:ext cx="74980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746F68"/>
                </a:solidFill>
                <a:latin typeface="Gill Sans MT"/>
              </a:rPr>
              <a:t>Next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84064" y="4672583"/>
            <a:ext cx="1280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F3EFE7"/>
                </a:solidFill>
                <a:latin typeface="Georgia"/>
              </a:rPr>
              <a:t>Soft fade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5968" y="5029200"/>
            <a:ext cx="74980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746F68"/>
                </a:solidFill>
                <a:latin typeface="Gill Sans MT"/>
              </a:rPr>
              <a:t>Media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84064" y="5029200"/>
            <a:ext cx="1280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F3EFE7"/>
                </a:solidFill>
                <a:latin typeface="Georgia"/>
              </a:rPr>
              <a:t>All found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15968" y="5376672"/>
            <a:ext cx="2048256" cy="22860"/>
          </a:xfrm>
          <a:prstGeom prst="rect">
            <a:avLst/>
          </a:prstGeom>
          <a:solidFill>
            <a:srgbClr val="D6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15968" y="5449824"/>
            <a:ext cx="2048256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D6A33D"/>
                </a:solidFill>
                <a:latin typeface="Gill Sans MT"/>
              </a:rPr>
              <a:t>READY TO RENDER</a:t>
            </a:r>
          </a:p>
        </p:txBody>
      </p:sp>
      <p:sp>
        <p:nvSpPr>
          <p:cNvPr id="44" name="Chevron 43"/>
          <p:cNvSpPr/>
          <p:nvPr/>
        </p:nvSpPr>
        <p:spPr>
          <a:xfrm>
            <a:off x="3694176" y="3657600"/>
            <a:ext cx="246888" cy="420624"/>
          </a:xfrm>
          <a:prstGeom prst="chevron">
            <a:avLst/>
          </a:prstGeom>
          <a:solidFill>
            <a:srgbClr val="C6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Chevron 44"/>
          <p:cNvSpPr/>
          <p:nvPr/>
        </p:nvSpPr>
        <p:spPr>
          <a:xfrm>
            <a:off x="6793992" y="3657600"/>
            <a:ext cx="246888" cy="420624"/>
          </a:xfrm>
          <a:prstGeom prst="chevron">
            <a:avLst/>
          </a:prstGeom>
          <a:solidFill>
            <a:srgbClr val="D6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114032" y="2267712"/>
            <a:ext cx="4443984" cy="3429000"/>
          </a:xfrm>
          <a:prstGeom prst="roundRect">
            <a:avLst/>
          </a:prstGeom>
          <a:solidFill>
            <a:srgbClr val="0B0D12"/>
          </a:solidFill>
          <a:ln w="12700">
            <a:solidFill>
              <a:srgbClr val="343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slide7-b15-13.png"/>
          <p:cNvPicPr>
            <a:picLocks noChangeAspect="1"/>
          </p:cNvPicPr>
          <p:nvPr/>
        </p:nvPicPr>
        <p:blipFill>
          <a:blip r:embed="rId2"/>
          <a:srcRect b="10000"/>
          <a:stretch>
            <a:fillRect/>
          </a:stretch>
        </p:blipFill>
        <p:spPr>
          <a:xfrm>
            <a:off x="7260336" y="2414016"/>
            <a:ext cx="4151376" cy="2340864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7260336" y="4818888"/>
            <a:ext cx="4151376" cy="640080"/>
          </a:xfrm>
          <a:prstGeom prst="roundRect">
            <a:avLst/>
          </a:prstGeom>
          <a:solidFill>
            <a:srgbClr val="23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52360" y="4919472"/>
            <a:ext cx="1042415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746F68"/>
                </a:solidFill>
                <a:latin typeface="Gill Sans MT"/>
              </a:rPr>
              <a:t>TIMING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52360" y="5129784"/>
            <a:ext cx="1042415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D6A33D"/>
                </a:solidFill>
                <a:latin typeface="Gill Sans MT"/>
              </a:rPr>
              <a:t>PASS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23960" y="4919472"/>
            <a:ext cx="1042415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746F68"/>
                </a:solidFill>
                <a:latin typeface="Gill Sans MT"/>
              </a:rPr>
              <a:t>MEDIA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3960" y="5129784"/>
            <a:ext cx="1042415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06B7A"/>
                </a:solidFill>
                <a:latin typeface="Gill Sans MT"/>
              </a:rPr>
              <a:t>PASS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04120" y="4919472"/>
            <a:ext cx="1042415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746F68"/>
                </a:solidFill>
                <a:latin typeface="Gill Sans MT"/>
              </a:rPr>
              <a:t>INSPECTION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04120" y="5129784"/>
            <a:ext cx="1042415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3C991"/>
                </a:solidFill>
                <a:latin typeface="Gill Sans MT"/>
              </a:rPr>
              <a:t>PASS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6112" y="6016752"/>
            <a:ext cx="10387584" cy="420624"/>
          </a:xfrm>
          <a:prstGeom prst="roundRect">
            <a:avLst/>
          </a:prstGeom>
          <a:solidFill>
            <a:srgbClr val="E4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335024" y="6126480"/>
            <a:ext cx="987552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C65C3B"/>
                </a:solidFill>
                <a:latin typeface="Gill Sans MT"/>
              </a:rPr>
              <a:t>Resume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07792" y="6126480"/>
            <a:ext cx="987552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9B6C19"/>
                </a:solidFill>
                <a:latin typeface="Gill Sans MT"/>
              </a:rPr>
              <a:t>Revise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35424" y="6126480"/>
            <a:ext cx="1243584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06B7A"/>
                </a:solidFill>
                <a:latin typeface="Gill Sans MT"/>
              </a:rPr>
              <a:t>Reproduce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19088" y="6126480"/>
            <a:ext cx="4425696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>
                <a:solidFill>
                  <a:srgbClr val="181716"/>
                </a:solidFill>
                <a:latin typeface="Georgia"/>
              </a:rPr>
              <a:t>without the original agent or chat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19202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65C3B"/>
                </a:solidFill>
                <a:latin typeface="Gill Sans MT"/>
              </a:rPr>
              <a:t>SLATE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49808"/>
            <a:ext cx="7406640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00" b="0">
                <a:solidFill>
                  <a:srgbClr val="181716"/>
                </a:solidFill>
                <a:latin typeface="Georgia"/>
              </a:rPr>
              <a:t>Current Operating Realities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44752"/>
            <a:ext cx="10936224" cy="16459"/>
          </a:xfrm>
          <a:prstGeom prst="rect">
            <a:avLst/>
          </a:prstGeom>
          <a:solidFill>
            <a:srgbClr val="24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810512"/>
            <a:ext cx="658368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C65C3B"/>
                </a:solidFill>
                <a:latin typeface="Gill Sans MT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5024" y="1993392"/>
            <a:ext cx="2322576" cy="22860"/>
          </a:xfrm>
          <a:prstGeom prst="rect">
            <a:avLst/>
          </a:prstGeom>
          <a:solidFill>
            <a:srgbClr val="C6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86384" y="2432304"/>
            <a:ext cx="2395728" cy="1316736"/>
          </a:xfrm>
          <a:prstGeom prst="roundRect">
            <a:avLst/>
          </a:prstGeom>
          <a:solidFill>
            <a:srgbClr val="E6DDD0"/>
          </a:solidFill>
          <a:ln w="12700">
            <a:solidFill>
              <a:srgbClr val="C9B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32688" y="2286000"/>
            <a:ext cx="2395728" cy="1316736"/>
          </a:xfrm>
          <a:prstGeom prst="roundRect">
            <a:avLst/>
          </a:prstGeom>
          <a:solidFill>
            <a:srgbClr val="FBF8F1"/>
          </a:solidFill>
          <a:ln w="12700">
            <a:solidFill>
              <a:srgbClr val="C65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560320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65C3B"/>
                </a:solidFill>
                <a:latin typeface="Gill Sans MT"/>
              </a:rPr>
              <a:t>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2907792"/>
            <a:ext cx="1627632" cy="22860"/>
          </a:xfrm>
          <a:prstGeom prst="rect">
            <a:avLst/>
          </a:prstGeom>
          <a:solidFill>
            <a:srgbClr val="24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88720" y="3172968"/>
            <a:ext cx="1170432" cy="22860"/>
          </a:xfrm>
          <a:prstGeom prst="rect">
            <a:avLst/>
          </a:prstGeom>
          <a:solidFill>
            <a:srgbClr val="BEB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89504" y="3145536"/>
            <a:ext cx="256032" cy="256032"/>
          </a:xfrm>
          <a:prstGeom prst="roundRect">
            <a:avLst/>
          </a:prstGeom>
          <a:solidFill>
            <a:srgbClr val="C6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4114800"/>
            <a:ext cx="2944368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2300" b="1">
                <a:solidFill>
                  <a:srgbClr val="181716"/>
                </a:solidFill>
                <a:latin typeface="Georgia"/>
              </a:rPr>
              <a:t>A project,
not yet a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157216"/>
            <a:ext cx="2852928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4211F"/>
                </a:solidFill>
                <a:latin typeface="Gill Sans MT"/>
              </a:rPr>
              <a:t>Built for exploration and extension, not turnkey adoption.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85615" y="1773936"/>
            <a:ext cx="16459" cy="4187952"/>
          </a:xfrm>
          <a:prstGeom prst="rect">
            <a:avLst/>
          </a:prstGeom>
          <a:solidFill>
            <a:srgbClr val="CFC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0" y="1810512"/>
            <a:ext cx="658368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B6C19"/>
                </a:solidFill>
                <a:latin typeface="Gill Sans MT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28032" y="1993392"/>
            <a:ext cx="2322576" cy="22860"/>
          </a:xfrm>
          <a:prstGeom prst="rect">
            <a:avLst/>
          </a:prstGeom>
          <a:solidFill>
            <a:srgbClr val="9B6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52544" y="2340864"/>
            <a:ext cx="2615184" cy="1335024"/>
          </a:xfrm>
          <a:prstGeom prst="roundRect">
            <a:avLst/>
          </a:prstGeom>
          <a:solidFill>
            <a:srgbClr val="181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2560320"/>
            <a:ext cx="213969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3EFE7"/>
                </a:solidFill>
                <a:latin typeface="Gill Sans MT"/>
              </a:rPr>
              <a:t>AZURE AI FOUNDRY</a:t>
            </a:r>
          </a:p>
        </p:txBody>
      </p:sp>
      <p:sp>
        <p:nvSpPr>
          <p:cNvPr id="20" name="Oval 19"/>
          <p:cNvSpPr/>
          <p:nvPr/>
        </p:nvSpPr>
        <p:spPr>
          <a:xfrm>
            <a:off x="4700016" y="3017520"/>
            <a:ext cx="384048" cy="384048"/>
          </a:xfrm>
          <a:prstGeom prst="ellipse">
            <a:avLst/>
          </a:prstGeom>
          <a:solidFill>
            <a:srgbClr val="C6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413248" y="3017520"/>
            <a:ext cx="384048" cy="384048"/>
          </a:xfrm>
          <a:prstGeom prst="ellipse">
            <a:avLst/>
          </a:prstGeom>
          <a:solidFill>
            <a:srgbClr val="D6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26480" y="3017520"/>
            <a:ext cx="384048" cy="384048"/>
          </a:xfrm>
          <a:prstGeom prst="ellipse">
            <a:avLst/>
          </a:prstGeom>
          <a:solidFill>
            <a:srgbClr val="50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>
            <a:off x="5084064" y="3209544"/>
            <a:ext cx="329184" cy="0"/>
          </a:xfrm>
          <a:prstGeom prst="line">
            <a:avLst/>
          </a:prstGeom>
          <a:ln w="19050">
            <a:solidFill>
              <a:srgbClr val="E8D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797296" y="3209544"/>
            <a:ext cx="329184" cy="0"/>
          </a:xfrm>
          <a:prstGeom prst="line">
            <a:avLst/>
          </a:prstGeom>
          <a:ln w="19050">
            <a:solidFill>
              <a:srgbClr val="E8D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14800" y="4114800"/>
            <a:ext cx="2944368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2300" b="1">
                <a:solidFill>
                  <a:srgbClr val="181716"/>
                </a:solidFill>
                <a:latin typeface="Georgia"/>
              </a:rPr>
              <a:t>Azure infrastructure
required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157216"/>
            <a:ext cx="2852928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4211F"/>
                </a:solidFill>
                <a:latin typeface="Gill Sans MT"/>
              </a:rPr>
              <a:t>Foundry resources and model deployments power generated media and speech.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78624" y="1773936"/>
            <a:ext cx="16459" cy="4187952"/>
          </a:xfrm>
          <a:prstGeom prst="rect">
            <a:avLst/>
          </a:prstGeom>
          <a:solidFill>
            <a:srgbClr val="CFC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07808" y="1810512"/>
            <a:ext cx="658368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506B7A"/>
                </a:solidFill>
                <a:latin typeface="Gill Sans MT"/>
              </a:rPr>
              <a:t>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1993392"/>
            <a:ext cx="2322576" cy="22860"/>
          </a:xfrm>
          <a:prstGeom prst="rect">
            <a:avLst/>
          </a:prstGeom>
          <a:solidFill>
            <a:srgbClr val="50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321040" y="2249424"/>
            <a:ext cx="1572768" cy="1572768"/>
          </a:xfrm>
          <a:prstGeom prst="ellipse">
            <a:avLst/>
          </a:prstGeom>
          <a:solidFill>
            <a:srgbClr val="FBF8F1"/>
          </a:solidFill>
          <a:ln w="38100">
            <a:solidFill>
              <a:srgbClr val="50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 flipV="1">
            <a:off x="9107424" y="2542032"/>
            <a:ext cx="0" cy="493776"/>
          </a:xfrm>
          <a:prstGeom prst="line">
            <a:avLst/>
          </a:prstGeom>
          <a:ln w="38100">
            <a:solidFill>
              <a:srgbClr val="50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07424" y="3035808"/>
            <a:ext cx="365760" cy="192024"/>
          </a:xfrm>
          <a:prstGeom prst="line">
            <a:avLst/>
          </a:prstGeom>
          <a:ln w="38100">
            <a:solidFill>
              <a:srgbClr val="50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186416" y="2487168"/>
            <a:ext cx="384048" cy="201168"/>
          </a:xfrm>
          <a:prstGeom prst="roundRect">
            <a:avLst/>
          </a:prstGeom>
          <a:solidFill>
            <a:srgbClr val="C6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186416" y="2834640"/>
            <a:ext cx="603504" cy="201168"/>
          </a:xfrm>
          <a:prstGeom prst="roundRect">
            <a:avLst/>
          </a:prstGeom>
          <a:solidFill>
            <a:srgbClr val="D6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186416" y="3182112"/>
            <a:ext cx="822960" cy="201168"/>
          </a:xfrm>
          <a:prstGeom prst="roundRect">
            <a:avLst/>
          </a:prstGeom>
          <a:solidFill>
            <a:srgbClr val="50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07808" y="4114800"/>
            <a:ext cx="2944368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2300" b="1">
                <a:solidFill>
                  <a:srgbClr val="181716"/>
                </a:solidFill>
                <a:latin typeface="Georgia"/>
              </a:rPr>
              <a:t>Production
takes 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7808" y="5157216"/>
            <a:ext cx="2852928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4211F"/>
                </a:solidFill>
                <a:latin typeface="Gill Sans MT"/>
              </a:rPr>
              <a:t>Advanced models, video generation, and rendering can take several minutes.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6355080"/>
            <a:ext cx="61264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746F68"/>
                </a:solidFill>
                <a:latin typeface="Gill Sans MT"/>
              </a:rPr>
              <a:t>Clear expectations make the experiment stronger.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355080"/>
            <a:ext cx="5669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>
                <a:solidFill>
                  <a:srgbClr val="746F68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17373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6A33D"/>
                </a:solidFill>
                <a:latin typeface="Gill Sans MT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31520"/>
            <a:ext cx="6675120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>
                <a:solidFill>
                  <a:srgbClr val="F3EFE7"/>
                </a:solidFill>
                <a:latin typeface="Georgia"/>
              </a:rPr>
              <a:t>Get started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47888" y="841248"/>
            <a:ext cx="32918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>
                <a:solidFill>
                  <a:srgbClr val="E8DED0"/>
                </a:solidFill>
                <a:latin typeface="Gill Sans MT"/>
              </a:rPr>
              <a:t>Four ways into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26464"/>
            <a:ext cx="10936224" cy="16459"/>
          </a:xfrm>
          <a:prstGeom prst="rect">
            <a:avLst/>
          </a:prstGeom>
          <a:solidFill>
            <a:srgbClr val="4A4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2" y="1719072"/>
            <a:ext cx="10936224" cy="914400"/>
          </a:xfrm>
          <a:prstGeom prst="roundRect">
            <a:avLst/>
          </a:prstGeom>
          <a:solidFill>
            <a:srgbClr val="24211F"/>
          </a:solidFill>
          <a:ln w="12700">
            <a:solidFill>
              <a:srgbClr val="464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719072"/>
            <a:ext cx="73152" cy="914400"/>
          </a:xfrm>
          <a:prstGeom prst="rect">
            <a:avLst/>
          </a:prstGeom>
          <a:solidFill>
            <a:srgbClr val="C65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020824"/>
            <a:ext cx="4389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65C3B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874519"/>
            <a:ext cx="1243584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65C3B"/>
                </a:solidFill>
                <a:latin typeface="Gill Sans MT"/>
              </a:rP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084831"/>
            <a:ext cx="345643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F3EFE7"/>
                </a:solidFill>
                <a:latin typeface="Georgia"/>
              </a:rPr>
              <a:t>Clone SlateStudio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1920240"/>
            <a:ext cx="367588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400" b="0">
                <a:solidFill>
                  <a:srgbClr val="E8DED0"/>
                </a:solidFill>
                <a:latin typeface="Gill Sans MT"/>
              </a:rPr>
              <a:t>Point Copilot or your coding agent to the repository and ask it to set up the workspace.</a:t>
            </a:r>
          </a:p>
        </p:txBody>
      </p:sp>
      <p:sp>
        <p:nvSpPr>
          <p:cNvPr id="12" name="TextBox 11">
            <a:hlinkClick r:id="rId2"/>
          </p:cNvPr>
          <p:cNvSpPr txBox="1"/>
          <p:nvPr/>
        </p:nvSpPr>
        <p:spPr>
          <a:xfrm>
            <a:off x="8979408" y="2039112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u="sng">
                <a:solidFill>
                  <a:srgbClr val="C65C3B"/>
                </a:solidFill>
                <a:latin typeface="Gill Sans MT"/>
              </a:rPr>
              <a:t>Open repository 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834639"/>
            <a:ext cx="10936224" cy="914400"/>
          </a:xfrm>
          <a:prstGeom prst="roundRect">
            <a:avLst/>
          </a:prstGeom>
          <a:solidFill>
            <a:srgbClr val="211F1D"/>
          </a:solidFill>
          <a:ln w="12700">
            <a:solidFill>
              <a:srgbClr val="464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" y="2834639"/>
            <a:ext cx="73152" cy="914400"/>
          </a:xfrm>
          <a:prstGeom prst="rect">
            <a:avLst/>
          </a:prstGeom>
          <a:solidFill>
            <a:srgbClr val="D6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3136391"/>
            <a:ext cx="4389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D6A33D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90087"/>
            <a:ext cx="1243584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6A33D"/>
                </a:solidFill>
                <a:latin typeface="Gill Sans MT"/>
              </a:rPr>
              <a:t>WATCH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200399"/>
            <a:ext cx="345643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F3EFE7"/>
                </a:solidFill>
                <a:latin typeface="Georgia"/>
              </a:rPr>
              <a:t>Some reference videos made using Slate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3035808"/>
            <a:ext cx="367588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400" b="0">
                <a:solidFill>
                  <a:srgbClr val="E8DED0"/>
                </a:solidFill>
                <a:latin typeface="Gill Sans MT"/>
              </a:rPr>
              <a:t>See complete examples created through the Slate production workflow.</a:t>
            </a:r>
          </a:p>
        </p:txBody>
      </p:sp>
      <p:sp>
        <p:nvSpPr>
          <p:cNvPr id="19" name="TextBox 18">
            <a:hlinkClick r:id="rId3"/>
          </p:cNvPr>
          <p:cNvSpPr txBox="1"/>
          <p:nvPr/>
        </p:nvSpPr>
        <p:spPr>
          <a:xfrm>
            <a:off x="8979408" y="3154679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u="sng">
                <a:solidFill>
                  <a:srgbClr val="D6A33D"/>
                </a:solidFill>
                <a:latin typeface="Gill Sans MT"/>
              </a:rPr>
              <a:t>View videos  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3950208"/>
            <a:ext cx="10936224" cy="914400"/>
          </a:xfrm>
          <a:prstGeom prst="roundRect">
            <a:avLst/>
          </a:prstGeom>
          <a:solidFill>
            <a:srgbClr val="24211F"/>
          </a:solidFill>
          <a:ln w="12700">
            <a:solidFill>
              <a:srgbClr val="464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" y="3950208"/>
            <a:ext cx="73152" cy="914400"/>
          </a:xfrm>
          <a:prstGeom prst="rect">
            <a:avLst/>
          </a:prstGeom>
          <a:solidFill>
            <a:srgbClr val="5F6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4251960"/>
            <a:ext cx="4389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F6D59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105656"/>
            <a:ext cx="1243584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F6D59"/>
                </a:solidFill>
                <a:latin typeface="Gill Sans MT"/>
              </a:rPr>
              <a:t>JOIN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4315968"/>
            <a:ext cx="345643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F3EFE7"/>
                </a:solidFill>
                <a:latin typeface="Georgia"/>
              </a:rPr>
              <a:t>General | Slate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4151376"/>
            <a:ext cx="367588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400" b="0">
                <a:solidFill>
                  <a:srgbClr val="E8DED0"/>
                </a:solidFill>
                <a:latin typeface="Gill Sans MT"/>
              </a:rPr>
              <a:t>Connect with the Slate community for questions, updates, and production notes.</a:t>
            </a:r>
          </a:p>
        </p:txBody>
      </p:sp>
      <p:sp>
        <p:nvSpPr>
          <p:cNvPr id="26" name="TextBox 25">
            <a:hlinkClick r:id="rId4"/>
          </p:cNvPr>
          <p:cNvSpPr txBox="1"/>
          <p:nvPr/>
        </p:nvSpPr>
        <p:spPr>
          <a:xfrm>
            <a:off x="8979408" y="4270248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u="sng">
                <a:solidFill>
                  <a:srgbClr val="5F6D59"/>
                </a:solidFill>
                <a:latin typeface="Gill Sans MT"/>
              </a:rPr>
              <a:t>Open Teams channel  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5065776"/>
            <a:ext cx="10936224" cy="914400"/>
          </a:xfrm>
          <a:prstGeom prst="roundRect">
            <a:avLst/>
          </a:prstGeom>
          <a:solidFill>
            <a:srgbClr val="211F1D"/>
          </a:solidFill>
          <a:ln w="12700">
            <a:solidFill>
              <a:srgbClr val="464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" y="5065776"/>
            <a:ext cx="73152" cy="914400"/>
          </a:xfrm>
          <a:prstGeom prst="rect">
            <a:avLst/>
          </a:prstGeom>
          <a:solidFill>
            <a:srgbClr val="50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7824" y="5367528"/>
            <a:ext cx="4389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06B7A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5221224"/>
            <a:ext cx="1243584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06B7A"/>
                </a:solidFill>
                <a:latin typeface="Gill Sans MT"/>
              </a:rPr>
              <a:t>OFFICE HOURS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5431536"/>
            <a:ext cx="345643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F3EFE7"/>
                </a:solidFill>
                <a:latin typeface="Georgia"/>
              </a:rPr>
              <a:t>Every Wednesday · 11:00 AM PST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5266944"/>
            <a:ext cx="367588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400" b="0">
                <a:solidFill>
                  <a:srgbClr val="E8DED0"/>
                </a:solidFill>
                <a:latin typeface="Gill Sans MT"/>
              </a:rPr>
              <a:t>Bring a project, a production question, or simply watch Slate work.</a:t>
            </a:r>
          </a:p>
        </p:txBody>
      </p:sp>
      <p:sp>
        <p:nvSpPr>
          <p:cNvPr id="33" name="TextBox 32">
            <a:hlinkClick r:id="rId5"/>
          </p:cNvPr>
          <p:cNvSpPr txBox="1"/>
          <p:nvPr/>
        </p:nvSpPr>
        <p:spPr>
          <a:xfrm>
            <a:off x="8979408" y="5385816"/>
            <a:ext cx="22311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u="sng">
                <a:solidFill>
                  <a:srgbClr val="506B7A"/>
                </a:solidFill>
                <a:latin typeface="Gill Sans MT"/>
              </a:rPr>
              <a:t>Join office hours  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455664"/>
            <a:ext cx="65836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7746D"/>
                </a:solidFill>
                <a:latin typeface="Consolas"/>
              </a:rPr>
              <a:t>SLATE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37376"/>
            <a:ext cx="56692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77746D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660</Words>
  <Application>Microsoft Office PowerPoint</Application>
  <PresentationFormat>Widescreen</PresentationFormat>
  <Paragraphs>220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Slate?</dc:title>
  <dc:subject>Slate talk opening</dc:subject>
  <dc:creator>Slate</dc:creator>
  <cp:keywords>Slate, GitHub Copilot, video production</cp:keywords>
  <dc:description>generated using python-pptx</dc:description>
  <cp:lastModifiedBy>Ishan Bhatt</cp:lastModifiedBy>
  <cp:revision>2</cp:revision>
  <dcterms:created xsi:type="dcterms:W3CDTF">2013-01-27T09:14:16Z</dcterms:created>
  <dcterms:modified xsi:type="dcterms:W3CDTF">2026-08-27T04:08:17Z</dcterms:modified>
  <cp:category/>
</cp:coreProperties>
</file>